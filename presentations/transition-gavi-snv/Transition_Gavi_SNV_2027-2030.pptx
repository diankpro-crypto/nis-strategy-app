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njeu" id="{994e1f68-e83e-1257-1a44-5b1f924edfe3}">
          <p14:sldIdLst>
            <p14:sldId id="256"/>
            <p14:sldId id="257"/>
          </p14:sldIdLst>
        </p14:section>
        <p14:section name="Structure et proposition" id="{41d12b07-03d8-ce2b-894b-baf23fd90a97}">
          <p14:sldIdLst>
            <p14:sldId id="258"/>
            <p14:sldId id="259"/>
          </p14:sldIdLst>
        </p14:section>
        <p14:section name="Les trois ancrages" id="{02730e99-15c5-80cc-9a92-ad781043a2b5}">
          <p14:sldIdLst>
            <p14:sldId id="260"/>
            <p14:sldId id="261"/>
            <p14:sldId id="262"/>
            <p14:sldId id="263"/>
          </p14:sldIdLst>
        </p14:section>
        <p14:section name="Conditions et décisions" id="{cc95ef5b-8446-47de-1f6b-2ec381967caf}">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ABA18D"/>
                </a:solidFill>
                <a:latin typeface="+mn-lt"/>
              </a:defRPr>
            </a:pPr>
            <a:r>
              <a:rPr sz="1100" b="0" i="0" u="none" strike="noStrike">
                <a:solidFill>
                  <a:srgbClr val="ABA18D"/>
                </a:solidFill>
                <a:latin typeface="+mn-lt"/>
              </a:rPr>
              <a:t>Part de l'État, 2027-2030</a:t>
            </a:r>
          </a:p>
        </c:rich>
      </c:tx>
      <c:layout/>
      <c:overlay val="0"/>
    </c:title>
    <c:autoTitleDeleted val="0"/>
    <c:plotArea>
      <c:layout/>
      <c:barChart>
        <c:barDir val="col"/>
        <c:grouping val="clustered"/>
        <c:varyColors val="0"/>
        <c:ser>
          <c:idx val="0"/>
          <c:order val="0"/>
          <c:tx>
            <c:strRef>
              <c:f>Sheet1!$B$1</c:f>
              <c:strCache>
                <c:ptCount val="1"/>
                <c:pt idx="0">
                  <c:v>Part de l'État</c:v>
                </c:pt>
              </c:strCache>
            </c:strRef>
          </c:tx>
          <c:spPr>
            <a:solidFill>
              <a:srgbClr val="E3B34C"/>
            </a:solidFill>
            <a:effectLst/>
          </c:spPr>
          <c:invertIfNegative val="0"/>
          <c:dLbls>
            <c:numFmt formatCode="0&quot; %&quot;" sourceLinked="0"/>
            <c:txPr>
              <a:bodyPr/>
              <a:lstStyle/>
              <a:p>
                <a:pPr>
                  <a:defRPr b="0" i="0" strike="noStrike" sz="1100" u="none">
                    <a:solidFill>
                      <a:srgbClr val="D8CFBE"/>
                    </a:solidFill>
                    <a:latin typeface="+mn-lt"/>
                  </a:defRPr>
                </a:pPr>
              </a:p>
            </c:txPr>
            <c:showLegendKey val="0"/>
            <c:showVal val="1"/>
            <c:showCatName val="0"/>
            <c:showSerName val="0"/>
            <c:showPercent val="0"/>
            <c:showBubbleSize val="0"/>
            <c:showLeaderLines val="0"/>
          </c:dLbls>
          <c:cat>
            <c:multiLvlStrRef>
              <c:f>Sheet1!$A$2:$A$5</c:f>
              <c:multiLvlStrCache>
                <c:ptCount val="4"/>
                <c:lvl>
                  <c:pt idx="0">
                    <c:v>2027</c:v>
                  </c:pt>
                  <c:pt idx="1">
                    <c:v>2028</c:v>
                  </c:pt>
                  <c:pt idx="2">
                    <c:v>2029</c:v>
                  </c:pt>
                  <c:pt idx="3">
                    <c:v>2030</c:v>
                  </c:pt>
                </c:lvl>
              </c:multiLvlStrCache>
            </c:multiLvlStrRef>
          </c:cat>
          <c:val>
            <c:numRef>
              <c:f>Sheet1!$B$2:$B$5</c:f>
              <c:numCache>
                <c:formatCode>General</c:formatCode>
                <c:ptCount val="4"/>
                <c:pt idx="0">
                  <c:v>37</c:v>
                </c:pt>
                <c:pt idx="1">
                  <c:v>55</c:v>
                </c:pt>
                <c:pt idx="2">
                  <c:v>80</c:v>
                </c:pt>
                <c:pt idx="3">
                  <c:v>100</c:v>
                </c:pt>
              </c:numCache>
            </c:numRef>
          </c:val>
        </c:ser>
        <c:dLbls>
          <c:numFmt formatCode="0&quot; %&quot;" sourceLinked="0"/>
          <c:txPr>
            <a:bodyPr/>
            <a:lstStyle/>
            <a:p>
              <a:pPr>
                <a:defRPr b="0" i="0" strike="noStrike" sz="1100" u="none">
                  <a:solidFill>
                    <a:srgbClr val="D8CFB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BA18D"/>
                </a:solidFill>
                <a:latin typeface="+mn-lt"/>
              </a:defRPr>
            </a:pPr>
            <a:endParaRPr lang="en-US"/>
          </a:p>
        </c:txPr>
        <c:crossAx val="2094734552"/>
        <c:crosses val="autoZero"/>
        <c:auto val="1"/>
        <c:lblAlgn val="ctr"/>
        <c:noMultiLvlLbl val="1"/>
      </c:catAx>
      <c:valAx>
        <c:axId val="2094734552"/>
        <c:scaling>
          <c:orientation val="minMax"/>
          <c:max val="1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5EFE3"/>
                </a:solidFill>
                <a:latin typeface="+mn-lt"/>
              </a:defRPr>
            </a:pPr>
            <a:r>
              <a:rPr sz="1100" b="0" i="0" u="none" strike="noStrike">
                <a:solidFill>
                  <a:srgbClr val="F5EFE3"/>
                </a:solidFill>
                <a:latin typeface="+mn-lt"/>
              </a:rPr>
              <a:t>Charge de l'État pour les vaccins en 2030 (M FDJ)</a:t>
            </a:r>
          </a:p>
        </c:rich>
      </c:tx>
      <c:layout/>
      <c:overlay val="0"/>
    </c:title>
    <c:autoTitleDeleted val="0"/>
    <c:plotArea>
      <c:layout/>
      <c:barChart>
        <c:barDir val="bar"/>
        <c:grouping val="stacked"/>
        <c:varyColors val="0"/>
        <c:ser>
          <c:idx val="0"/>
          <c:order val="0"/>
          <c:tx>
            <c:strRef>
              <c:f>Sheet1!$B$1</c:f>
              <c:strCache>
                <c:ptCount val="1"/>
                <c:pt idx="0">
                  <c:v>SNV</c:v>
                </c:pt>
              </c:strCache>
            </c:strRef>
          </c:tx>
          <c:spPr>
            <a:solidFill>
              <a:srgbClr val="E3B34C"/>
            </a:solidFill>
            <a:effectLst/>
          </c:spPr>
          <c:invertIfNegative val="0"/>
          <c:dLbls>
            <c:numFmt formatCode="General;;" sourceLinked="0"/>
            <c:txPr>
              <a:bodyPr/>
              <a:lstStyle/>
              <a:p>
                <a:pPr>
                  <a:defRPr b="1" i="0" strike="noStrike" sz="1100" u="none">
                    <a:solidFill>
                      <a:srgbClr val="0B0B0C"/>
                    </a:solidFill>
                    <a:latin typeface="+mn-lt"/>
                  </a:defRPr>
                </a:pPr>
              </a:p>
            </c:txPr>
            <c:dLblPos val="inEnd"/>
            <c:showLegendKey val="0"/>
            <c:showVal val="1"/>
            <c:showCatName val="0"/>
            <c:showSerName val="0"/>
            <c:showPercent val="0"/>
            <c:showBubbleSize val="0"/>
            <c:showLeaderLines val="0"/>
          </c:dLbls>
          <c:cat>
            <c:multiLvlStrRef>
              <c:f>Sheet1!$A$2:$A$4</c:f>
              <c:multiLvlStrCache>
                <c:ptCount val="3"/>
                <c:lvl>
                  <c:pt idx="0">
                    <c:v>SNV, tous vaccins</c:v>
                  </c:pt>
                  <c:pt idx="1">
                    <c:v>Projet, scénario haut</c:v>
                  </c:pt>
                  <c:pt idx="2">
                    <c:v>Projet, scénario bas</c:v>
                  </c:pt>
                </c:lvl>
              </c:multiLvlStrCache>
            </c:multiLvlStrRef>
          </c:cat>
          <c:val>
            <c:numRef>
              <c:f>Sheet1!$B$2:$B$4</c:f>
              <c:numCache>
                <c:formatCode>General</c:formatCode>
                <c:ptCount val="3"/>
                <c:pt idx="0">
                  <c:v>151</c:v>
                </c:pt>
                <c:pt idx="1">
                  <c:v>0</c:v>
                </c:pt>
                <c:pt idx="2">
                  <c:v>0</c:v>
                </c:pt>
              </c:numCache>
            </c:numRef>
          </c:val>
        </c:ser>
        <c:ser>
          <c:idx val="1"/>
          <c:order val="1"/>
          <c:tx>
            <c:strRef>
              <c:f>Sheet1!$C$1</c:f>
              <c:strCache>
                <c:ptCount val="1"/>
                <c:pt idx="0">
                  <c:v>Projet de feuille de route</c:v>
                </c:pt>
              </c:strCache>
            </c:strRef>
          </c:tx>
          <c:spPr>
            <a:solidFill>
              <a:srgbClr val="ABA18D"/>
            </a:solidFill>
            <a:effectLst/>
          </c:spPr>
          <c:invertIfNegative val="0"/>
          <c:dLbls>
            <c:numFmt formatCode="General;;" sourceLinked="0"/>
            <c:txPr>
              <a:bodyPr/>
              <a:lstStyle/>
              <a:p>
                <a:pPr>
                  <a:defRPr b="1" i="0" strike="noStrike" sz="1100" u="none">
                    <a:solidFill>
                      <a:srgbClr val="0B0B0C"/>
                    </a:solidFill>
                    <a:latin typeface="+mn-lt"/>
                  </a:defRPr>
                </a:pPr>
              </a:p>
            </c:txPr>
            <c:dLblPos val="inEnd"/>
            <c:showLegendKey val="0"/>
            <c:showVal val="1"/>
            <c:showCatName val="0"/>
            <c:showSerName val="0"/>
            <c:showPercent val="0"/>
            <c:showBubbleSize val="0"/>
            <c:showLeaderLines val="0"/>
          </c:dLbls>
          <c:cat>
            <c:multiLvlStrRef>
              <c:f>Sheet1!$A$2:$A$4</c:f>
              <c:multiLvlStrCache>
                <c:ptCount val="3"/>
                <c:lvl>
                  <c:pt idx="0">
                    <c:v>SNV, tous vaccins</c:v>
                  </c:pt>
                  <c:pt idx="1">
                    <c:v>Projet, scénario haut</c:v>
                  </c:pt>
                  <c:pt idx="2">
                    <c:v>Projet, scénario bas</c:v>
                  </c:pt>
                </c:lvl>
              </c:multiLvlStrCache>
            </c:multiLvlStrRef>
          </c:cat>
          <c:val>
            <c:numRef>
              <c:f>Sheet1!$C$2:$C$4</c:f>
              <c:numCache>
                <c:formatCode>General</c:formatCode>
                <c:ptCount val="3"/>
                <c:pt idx="0">
                  <c:v>0</c:v>
                </c:pt>
                <c:pt idx="1">
                  <c:v>81</c:v>
                </c:pt>
                <c:pt idx="2">
                  <c:v>59.2</c:v>
                </c:pt>
              </c:numCache>
            </c:numRef>
          </c:val>
        </c:ser>
        <c:dLbls>
          <c:numFmt formatCode="General;;" sourceLinked="0"/>
          <c:txPr>
            <a:bodyPr/>
            <a:lstStyle/>
            <a:p>
              <a:pPr>
                <a:defRPr b="1" i="0" strike="noStrike" sz="1100" u="none">
                  <a:solidFill>
                    <a:srgbClr val="0B0B0C"/>
                  </a:solidFill>
                  <a:latin typeface="+mn-lt"/>
                </a:defRPr>
              </a:pPr>
            </a:p>
          </c:txPr>
          <c:dLblPos val="inEnd"/>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D8CFBE"/>
                </a:solidFill>
                <a:latin typeface="+mn-lt"/>
              </a:defRPr>
            </a:pPr>
            <a:endParaRPr lang="en-US"/>
          </a:p>
        </c:txPr>
        <c:crossAx val="2094734552"/>
        <c:crosses val="autoZero"/>
        <c:auto val="1"/>
        <c:lblAlgn val="ctr"/>
        <c:noMultiLvlLbl val="1"/>
      </c:catAx>
      <c:valAx>
        <c:axId val="2094734552"/>
        <c:scaling>
          <c:orientation val="minMax"/>
          <c:max val="1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 : proposer où et comment intégrer la feuille de route 2027-2030 de financement de la transition accélérée de Gavi dans la Stratégie nationale de vaccination. Message d'ouverture : la feuille de route n'est pas un document parallèle ; c'est la condition de réussite de la SNV. La proposition tient en trois points d'ancrage et ne demande pas de réécrire la stratégie.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transition n'est pas seulement la fin d'une subvention. La part de l'État passe de 37 % en 2027 à 55 %, 80 % puis 100 % en 2030 ; le soutien de Gavi prend fin le 31 décembre 2029. La charge reste soutenable en valeur absolue (environ 0,45 % du budget de l'État en 2030) : l'enjeu est la prévisibilité budgétaire et la régularité d'exécution. D'où la nécessité que la feuille de route soit inscrite dans la SNV, pas à côté.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la proposition, la carte du document. La SNV draft 3.8 compte dix chapitres : neuf pour le corps du texte, le dixième pour les annexes, qui sont des documents distincts accessibles par lien. La feuille de route se raccroche à trois endroits seulement, en or : le chapitre 6 (objectif 1.5, par un renvoi), le chapitre 8 (section 8.5, ancrage principal) et le chapitre 10 (une annexe 7 dédiée). Aucun autre chapitre n'est modifié.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proposition en une image, dans l'ordre de lecture du document. Chapitre 6 : relier, par une phrase de renvoi depuis l'objectif stratégique 1.5, qui cite déjà la feuille de route. Chapitre 8 : introduire, c'est l'ancrage principal ; la section 8.5 accueille une présentation d'une page. Chapitre 10 : détailler, avec la feuille de route complète en annexe 7. Le lecteur pressé trouve l'essentiel en 8.5 ; le lecteur technique trouve le document intégral en annexe.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la section 8.5 : elle traite déjà des conditions de la transition, de la reprise progressive du financement des vaccins par l'État (37 % en 2027, 100 % en 2030) et de la soutenabilité budgétaire. On conserve les deux blocs existants (soutenabilité, quatre conditions) et on ajoute trois paragraphes courts : les objectifs et principes de la feuille de route, son périmètre en trois cercles, puis la trajectoire, la gouvernance et le renvoi à l'annexe 7. Recommandation : élargir l'intitulé de 8.5 plutôt que créer une section 8.6, pour éviter tout doublon. Volume ajouté : une page au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paragraphe ajouté en 8.5. La transition ne se limite pas au cofinancement Gavi (cercle 1). Les coûts de fonctionnement du programme, aujourd'hui largement portés par les subventions de Gavi (cercle 2), et les vaccins traditionnels acquis par l'UNICEF (cercle 3) devront eux aussi trouver leur place dans le budget de l'État. L'autonomie financière, c'est l'absorption des trois cercles. Ordre des cercles conforme aux TdR ; le périmètre reste à arrêter par la présidence (question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L'objectif stratégique prioritaire 1.5 fait déjà référence à « la feuille de route sur le financement de la vaccination adoptée par le Gouvernement ». Il suffit d'y ajouter une phrase de renvoi vers la section 8.5 et l'annexe 7 ; aucune réécriture de l'objectif ni des interventions 1.5.1 à 1.5.4. Les deux indicateurs de suivi existent déjà : 1.5.a (part de l'État, 100 % en 2030) et 1.5.b (échéances réglées à temps). Point d'attention : la valeur de base de 1.5.a sera recalculée sur le périmètre de la prévision, comme l'annonce la section 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document intégral prend place au chapitre 10. Nous recommandons une annexe 7 plutôt qu'une annexe 5 bis, pour trois raisons. Un : la section 8.2 renvoie déjà à une « annexe 7 », qui n'existe pas encore dans le tableau des annexes ; on comble ce vide. Deux : les annexes sont des documents distincts accessibles par lien ; la version 0.3, puis la version adoptée, remplacent le fichier sans rouvrir la SNV. Trois : l'annexe 5 chiffre la stratégie ; l'annexe 7 porte l'engagement de financement de l'État.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de vigilance avant toute intégration. Un : la population cible ; la SNV pose la série RGPH 2024 comme référence unique des dénominateurs, l'outil de simulation de Gavi retient 18 591 ; une seule série doit être arrêtée par écrit. Deux : la charge de l'État en 2030 ; la SNV retient 0,85 million de dollars pour l'ensemble des vaccins, soit environ 151 millions de FDJ au taux de la SNV, quand les scénarios du projet de feuille de route vont de 59,2 à 81,0 millions de FDJ. Les deux chiffres ne couvrent vraisemblablement pas le même périmètre : à réconcilier par les trois cercles. Trois : la monnaie ; afficher USD et FDJ avec un taux unique. Quatre : un intitulé et une période uniques, 2027-2030, repris à l'identique dans l'objectif 1.5, la section 8.5 et l'annexe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L'intégration suit le calendrier déjà prévu, sans le décaler. 14 et 15 octobre : la réunion de cadrage valide l'architecture d'ancrage. 20 octobre au plus tard : relevé de conclusions signé et diffusé. Novembre et décembre : version 0.3 de la feuille de route, endossement, rédaction de la section 8.5. Puis validation de la SNV, date à fixer par la coordination du PEV. 5 mars 2027 : dépôt de la demande de financement au titre de Gavi 6.0. Garde-fou : si la feuille de route n'est pas adoptée au moment de la validation de la SNV, l'annexe 7 est publiée en version provisoire et remplacée par lien dès l'adoption.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Trois décisions suffisent pour lancer l'intégration. Un : valider l'architecture d'ancrage, avec la section 8.5 comme ancrage principal, le renvoi depuis l'objectif 1.5 et l'annexe 7 pour le document intégral. Deux : arrêter les quatre règles de cohérence (population, périmètre, monnaie, intitulé) avant toute rédaction. Trois : mandater l'équipe de rédaction de la section 8.5 et fixer son échéance. Message de clôture : la pérennité est une décision politique ; en l'inscrivant dans la SNV, le Gouvernement en fait un engagement, pas une intention.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rgbClr val="0B0B0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1783080"/>
            <a:ext cx="5120640" cy="274320"/>
          </a:xfrm>
          <a:prstGeom prst="rect">
            <a:avLst/>
          </a:prstGeom>
          <a:noFill/>
          <a:ln/>
        </p:spPr>
        <p:txBody>
          <a:bodyPr wrap="square" rtlCol="0"/>
          <a:lstStyle>
            <a:lvl1pPr indent="0" marL="0">
              <a:buNone/>
              <a:defRPr lang="en-US" sz="1200" b="1" spc="3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812902" y="2148840"/>
            <a:ext cx="5120640" cy="2103120"/>
          </a:xfrm>
          <a:prstGeom prst="rect">
            <a:avLst/>
          </a:prstGeom>
          <a:noFill/>
          <a:ln/>
        </p:spPr>
        <p:txBody>
          <a:bodyPr wrap="square" rtlCol="0"/>
          <a:lstStyle>
            <a:lvl1pPr algn="l" indent="0" marL="0">
              <a:buNone/>
              <a:defRPr lang="en-US" sz="4400" dirty="0">
                <a:solidFill>
                  <a:schemeClr val="bg1"/>
                </a:solidFill>
                <a:latin typeface="Georgia" pitchFamily="34" charset="0"/>
                <a:ea typeface="Georgia" pitchFamily="34" charset="-122"/>
                <a:cs typeface="Georgia" pitchFamily="34" charset="-120"/>
              </a:defRPr>
            </a:lvl1pPr>
          </a:lstStyle>
          <a:p>
            <a:pPr algn="l" indent="0" marL="0">
              <a:buNone/>
            </a:pPr>
            <a:endParaRPr lang="en-US" sz="4400" dirty="0"/>
          </a:p>
        </p:txBody>
      </p:sp>
      <p:sp>
        <p:nvSpPr>
          <p:cNvPr id="4" name="Text 0"/>
          <p:cNvSpPr/>
          <p:nvPr>
            <p:ph idx="102" type="body" hasCustomPrompt="1"/>
          </p:nvPr>
        </p:nvSpPr>
        <p:spPr>
          <a:xfrm>
            <a:off x="812902" y="4343400"/>
            <a:ext cx="4846320" cy="822960"/>
          </a:xfrm>
          <a:prstGeom prst="rect">
            <a:avLst/>
          </a:prstGeom>
          <a:noFill/>
          <a:ln/>
        </p:spPr>
        <p:txBody>
          <a:bodyPr wrap="square" rtlCol="0"/>
          <a:lstStyle>
            <a:lvl1pPr indent="0" marL="0">
              <a:buNone/>
              <a:defRPr lang="en-US" sz="1800" dirty="0">
                <a:solidFill>
                  <a:schemeClr val="bg2"/>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ombre pleine largeur">
    <p:bg>
      <p:bgPr>
        <a:solidFill>
          <a:srgbClr val="0B0B0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713232"/>
            <a:ext cx="10565892" cy="274320"/>
          </a:xfrm>
          <a:prstGeom prst="rect">
            <a:avLst/>
          </a:prstGeom>
          <a:noFill/>
          <a:ln/>
        </p:spPr>
        <p:txBody>
          <a:bodyPr wrap="square" rtlCol="0"/>
          <a:lstStyle>
            <a:lvl1pPr indent="0" marL="0">
              <a:buNone/>
              <a:defRPr lang="en-US" sz="1100" b="1" spc="3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812902" y="1042416"/>
            <a:ext cx="10565892" cy="914400"/>
          </a:xfrm>
          <a:prstGeom prst="rect">
            <a:avLst/>
          </a:prstGeom>
          <a:noFill/>
          <a:ln/>
        </p:spPr>
        <p:txBody>
          <a:bodyPr wrap="square" rtlCol="0"/>
          <a:lstStyle>
            <a:lvl1pPr algn="l" indent="0" marL="0">
              <a:buNone/>
              <a:defRPr lang="en-US" sz="3000" dirty="0">
                <a:solidFill>
                  <a:schemeClr val="bg1"/>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ph idx="102" type="body" hasCustomPrompt="1"/>
          </p:nvPr>
        </p:nvSpPr>
        <p:spPr>
          <a:xfrm>
            <a:off x="812902" y="6327648"/>
            <a:ext cx="9834372" cy="274320"/>
          </a:xfrm>
          <a:prstGeom prst="rect">
            <a:avLst/>
          </a:prstGeom>
          <a:noFill/>
          <a:ln/>
        </p:spPr>
        <p:txBody>
          <a:bodyPr wrap="square" rtlCol="0"/>
          <a:lstStyle>
            <a:lvl1pPr indent="0" marL="0">
              <a:buNone/>
              <a:defRPr lang="en-US" sz="1000" dirty="0">
                <a:solidFill>
                  <a:schemeClr val="accent4"/>
                </a:solidFill>
                <a:latin typeface="Calibri" pitchFamily="34" charset="0"/>
                <a:ea typeface="Calibri" pitchFamily="34" charset="-122"/>
                <a:cs typeface="Calibri"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mbre alterné">
    <p:bg>
      <p:bgPr>
        <a:solidFill>
          <a:srgbClr val="13110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713232"/>
            <a:ext cx="10565892" cy="274320"/>
          </a:xfrm>
          <a:prstGeom prst="rect">
            <a:avLst/>
          </a:prstGeom>
          <a:noFill/>
          <a:ln/>
        </p:spPr>
        <p:txBody>
          <a:bodyPr wrap="square" rtlCol="0"/>
          <a:lstStyle>
            <a:lvl1pPr indent="0" marL="0">
              <a:buNone/>
              <a:defRPr lang="en-US" sz="1100" b="1" spc="3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812902" y="1042416"/>
            <a:ext cx="10565892" cy="914400"/>
          </a:xfrm>
          <a:prstGeom prst="rect">
            <a:avLst/>
          </a:prstGeom>
          <a:noFill/>
          <a:ln/>
        </p:spPr>
        <p:txBody>
          <a:bodyPr wrap="square" rtlCol="0"/>
          <a:lstStyle>
            <a:lvl1pPr algn="l" indent="0" marL="0">
              <a:buNone/>
              <a:defRPr lang="en-US" sz="3000" dirty="0">
                <a:solidFill>
                  <a:schemeClr val="bg1"/>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ph idx="102" type="body" hasCustomPrompt="1"/>
          </p:nvPr>
        </p:nvSpPr>
        <p:spPr>
          <a:xfrm>
            <a:off x="812902" y="6327648"/>
            <a:ext cx="9834372" cy="274320"/>
          </a:xfrm>
          <a:prstGeom prst="rect">
            <a:avLst/>
          </a:prstGeom>
          <a:noFill/>
          <a:ln/>
        </p:spPr>
        <p:txBody>
          <a:bodyPr wrap="square" rtlCol="0"/>
          <a:lstStyle>
            <a:lvl1pPr indent="0" marL="0">
              <a:buNone/>
              <a:defRPr lang="en-US" sz="1000" dirty="0">
                <a:solidFill>
                  <a:schemeClr val="accent4"/>
                </a:solidFill>
                <a:latin typeface="Calibri" pitchFamily="34" charset="0"/>
                <a:ea typeface="Calibri" pitchFamily="34" charset="-122"/>
                <a:cs typeface="Calibri"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mbre avec photo à droite">
    <p:bg>
      <p:bgPr>
        <a:solidFill>
          <a:srgbClr val="0B0B0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713232"/>
            <a:ext cx="6309360" cy="274320"/>
          </a:xfrm>
          <a:prstGeom prst="rect">
            <a:avLst/>
          </a:prstGeom>
          <a:noFill/>
          <a:ln/>
        </p:spPr>
        <p:txBody>
          <a:bodyPr wrap="square" rtlCol="0"/>
          <a:lstStyle>
            <a:lvl1pPr indent="0" marL="0">
              <a:buNone/>
              <a:defRPr lang="en-US" sz="1100" b="1" spc="3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812902" y="1042416"/>
            <a:ext cx="6309360" cy="914400"/>
          </a:xfrm>
          <a:prstGeom prst="rect">
            <a:avLst/>
          </a:prstGeom>
          <a:noFill/>
          <a:ln/>
        </p:spPr>
        <p:txBody>
          <a:bodyPr wrap="square" rtlCol="0"/>
          <a:lstStyle>
            <a:lvl1pPr algn="l" indent="0" marL="0">
              <a:buNone/>
              <a:defRPr lang="en-US" sz="3000" dirty="0">
                <a:solidFill>
                  <a:schemeClr val="bg1"/>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ph idx="102" type="body" hasCustomPrompt="1"/>
          </p:nvPr>
        </p:nvSpPr>
        <p:spPr>
          <a:xfrm>
            <a:off x="812902" y="6327648"/>
            <a:ext cx="9834372" cy="274320"/>
          </a:xfrm>
          <a:prstGeom prst="rect">
            <a:avLst/>
          </a:prstGeom>
          <a:noFill/>
          <a:ln/>
        </p:spPr>
        <p:txBody>
          <a:bodyPr wrap="square" rtlCol="0"/>
          <a:lstStyle>
            <a:lvl1pPr indent="0" marL="0">
              <a:buNone/>
              <a:defRPr lang="en-US" sz="1000" dirty="0">
                <a:solidFill>
                  <a:schemeClr val="accent4"/>
                </a:solidFill>
                <a:latin typeface="Calibri" pitchFamily="34" charset="0"/>
                <a:ea typeface="Calibri" pitchFamily="34" charset="-122"/>
                <a:cs typeface="Calibri"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mbre alterné, visuel à droite">
    <p:bg>
      <p:bgPr>
        <a:solidFill>
          <a:srgbClr val="13110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713232"/>
            <a:ext cx="5394960" cy="274320"/>
          </a:xfrm>
          <a:prstGeom prst="rect">
            <a:avLst/>
          </a:prstGeom>
          <a:noFill/>
          <a:ln/>
        </p:spPr>
        <p:txBody>
          <a:bodyPr wrap="square" rtlCol="0"/>
          <a:lstStyle>
            <a:lvl1pPr indent="0" marL="0">
              <a:buNone/>
              <a:defRPr lang="en-US" sz="1100" b="1" spc="3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812902" y="1042416"/>
            <a:ext cx="5394960" cy="914400"/>
          </a:xfrm>
          <a:prstGeom prst="rect">
            <a:avLst/>
          </a:prstGeom>
          <a:noFill/>
          <a:ln/>
        </p:spPr>
        <p:txBody>
          <a:bodyPr wrap="square" rtlCol="0"/>
          <a:lstStyle>
            <a:lvl1pPr algn="l" indent="0" marL="0">
              <a:buNone/>
              <a:defRPr lang="en-US" sz="3000" dirty="0">
                <a:solidFill>
                  <a:schemeClr val="bg1"/>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ph idx="102" type="body" hasCustomPrompt="1"/>
          </p:nvPr>
        </p:nvSpPr>
        <p:spPr>
          <a:xfrm>
            <a:off x="812902" y="6327648"/>
            <a:ext cx="9834372" cy="274320"/>
          </a:xfrm>
          <a:prstGeom prst="rect">
            <a:avLst/>
          </a:prstGeom>
          <a:noFill/>
          <a:ln/>
        </p:spPr>
        <p:txBody>
          <a:bodyPr wrap="square" rtlCol="0"/>
          <a:lstStyle>
            <a:lvl1pPr indent="0" marL="0">
              <a:buNone/>
              <a:defRPr lang="en-US" sz="1000" dirty="0">
                <a:solidFill>
                  <a:schemeClr val="accent4"/>
                </a:solidFill>
                <a:latin typeface="Calibri" pitchFamily="34" charset="0"/>
                <a:ea typeface="Calibri" pitchFamily="34" charset="-122"/>
                <a:cs typeface="Calibri"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ndeau photo">
    <p:bg>
      <p:bgPr>
        <a:solidFill>
          <a:srgbClr val="0B0B0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2578608"/>
            <a:ext cx="10565892" cy="274320"/>
          </a:xfrm>
          <a:prstGeom prst="rect">
            <a:avLst/>
          </a:prstGeom>
          <a:noFill/>
          <a:ln/>
        </p:spPr>
        <p:txBody>
          <a:bodyPr wrap="square" rtlCol="0"/>
          <a:lstStyle>
            <a:lvl1pPr indent="0" marL="0">
              <a:buNone/>
              <a:defRPr lang="en-US" sz="1100" b="1" spc="3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812902" y="2907792"/>
            <a:ext cx="10565892" cy="914400"/>
          </a:xfrm>
          <a:prstGeom prst="rect">
            <a:avLst/>
          </a:prstGeom>
          <a:noFill/>
          <a:ln/>
        </p:spPr>
        <p:txBody>
          <a:bodyPr wrap="square" rtlCol="0"/>
          <a:lstStyle>
            <a:lvl1pPr algn="l" indent="0" marL="0">
              <a:buNone/>
              <a:defRPr lang="en-US" sz="3000" dirty="0">
                <a:solidFill>
                  <a:schemeClr val="bg1"/>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ph idx="102" type="body" hasCustomPrompt="1"/>
          </p:nvPr>
        </p:nvSpPr>
        <p:spPr>
          <a:xfrm>
            <a:off x="812902" y="6327648"/>
            <a:ext cx="9834372" cy="274320"/>
          </a:xfrm>
          <a:prstGeom prst="rect">
            <a:avLst/>
          </a:prstGeom>
          <a:noFill/>
          <a:ln/>
        </p:spPr>
        <p:txBody>
          <a:bodyPr wrap="square" rtlCol="0"/>
          <a:lstStyle>
            <a:lvl1pPr indent="0" marL="0">
              <a:buNone/>
              <a:defRPr lang="en-US" sz="1000" dirty="0">
                <a:solidFill>
                  <a:schemeClr val="accent4"/>
                </a:solidFill>
                <a:latin typeface="Calibri" pitchFamily="34" charset="0"/>
                <a:ea typeface="Calibri" pitchFamily="34" charset="-122"/>
                <a:cs typeface="Calibri"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jp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5.xml"/><Relationship Id="rId3" Type="http://schemas.openxmlformats.org/officeDocument/2006/relationships/slide" Target="slide8.xml"/><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7.xml"/><Relationship Id="rId4" Type="http://schemas.openxmlformats.org/officeDocument/2006/relationships/slide" Target="slide5.xml"/><Relationship Id="rId5" Type="http://schemas.openxmlformats.org/officeDocument/2006/relationships/slide" Target="slide8.xml"/><Relationship Id="rId1" Type="http://schemas.openxmlformats.org/officeDocument/2006/relationships/image" Target="../media/image-4-1.jpg"/><Relationship Id="rId2" Type="http://schemas.openxmlformats.org/officeDocument/2006/relationships/image" Target="../media/image-4-2.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7.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7.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hoto vaccination" descr="Une infirmière vaccine un nourrisson dans les bras de sa mère, dans un centre de santé">    </p:cNvPr>
          <p:cNvPicPr>
            <a:picLocks noChangeAspect="1"/>
          </p:cNvPicPr>
          <p:nvPr/>
        </p:nvPicPr>
        <p:blipFill>
          <a:blip r:embed="rId1"/>
          <a:srcRect l="20837" r="20837" t="0" b="0"/>
          <a:stretch/>
        </p:blipFill>
        <p:spPr>
          <a:xfrm>
            <a:off x="5080406" y="0"/>
            <a:ext cx="7112203" cy="6858000"/>
          </a:xfrm>
          <a:prstGeom prst="rect">
            <a:avLst/>
          </a:prstGeom>
        </p:spPr>
      </p:pic>
      <p:pic>
        <p:nvPicPr>
          <p:cNvPr id="3" name="Fondu" descr="/tmp/claude-0/-home-user-nis-strategy-app/db6ab8e4-23bb-5d3f-99bf-54d3938fe311/scratchpad/pptx_build/assets/shade-cover.png">    </p:cNvPr>
          <p:cNvPicPr>
            <a:picLocks noChangeAspect="1"/>
          </p:cNvPicPr>
          <p:nvPr/>
        </p:nvPicPr>
        <p:blipFill>
          <a:blip r:embed="rId2"/>
          <a:stretch>
            <a:fillRect/>
          </a:stretch>
        </p:blipFill>
        <p:spPr>
          <a:xfrm>
            <a:off x="5080406" y="0"/>
            <a:ext cx="2540203" cy="6858000"/>
          </a:xfrm>
          <a:prstGeom prst="rect">
            <a:avLst/>
          </a:prstGeom>
        </p:spPr>
      </p:pic>
      <p:pic>
        <p:nvPicPr>
          <p:cNvPr id="4" name="Courbe de trajectoire" descr="/tmp/claude-0/-home-user-nis-strategy-app/db6ab8e4-23bb-5d3f-99bf-54d3938fe311/scratchpad/pptx_build/assets/curve.png">    </p:cNvPr>
          <p:cNvPicPr>
            <a:picLocks noChangeAspect="1"/>
          </p:cNvPicPr>
          <p:nvPr/>
        </p:nvPicPr>
        <p:blipFill>
          <a:blip r:embed="rId3"/>
          <a:stretch>
            <a:fillRect/>
          </a:stretch>
        </p:blipFill>
        <p:spPr>
          <a:xfrm>
            <a:off x="0" y="4953305"/>
            <a:ext cx="12191695" cy="1904695"/>
          </a:xfrm>
          <a:prstGeom prst="rect">
            <a:avLst/>
          </a:prstGeom>
        </p:spPr>
      </p:pic>
      <p:sp>
        <p:nvSpPr>
          <p:cNvPr id="5" name="Text 0"/>
          <p:cNvSpPr/>
          <p:nvPr>
            <p:ph idx="100" type="body" hasCustomPrompt="1"/>
          </p:nvPr>
        </p:nvSpPr>
        <p:spPr>
          <a:xfrm>
            <a:off x="812902" y="1783080"/>
            <a:ext cx="5120640" cy="274320"/>
          </a:xfrm>
          <a:prstGeom prst="rect">
            <a:avLst/>
          </a:prstGeom>
          <a:noFill/>
          <a:ln/>
        </p:spPr>
        <p:txBody>
          <a:bodyPr wrap="square" lIns="0" tIns="0" rIns="0" bIns="0" rtlCol="0"/>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SNV 2027-2030 · DJIBOUTI</a:t>
            </a:r>
            <a:endParaRPr lang="en-US" sz="1200" dirty="0"/>
          </a:p>
        </p:txBody>
      </p:sp>
      <p:sp>
        <p:nvSpPr>
          <p:cNvPr id="6" name="Text 0"/>
          <p:cNvSpPr/>
          <p:nvPr>
            <p:ph idx="101" type="title" hasCustomPrompt="1"/>
          </p:nvPr>
        </p:nvSpPr>
        <p:spPr>
          <a:xfrm>
            <a:off x="812902" y="2148840"/>
            <a:ext cx="5120640" cy="2103120"/>
          </a:xfrm>
          <a:prstGeom prst="rect">
            <a:avLst/>
          </a:prstGeom>
          <a:noFill/>
          <a:ln/>
        </p:spPr>
        <p:txBody>
          <a:bodyPr wrap="square" lIns="0" tIns="0" rIns="0" bIns="0" rtlCol="0" anchor="t"/>
          <a:lstStyle/>
          <a:p>
            <a:pPr algn="l" indent="0" marL="0">
              <a:buNone/>
            </a:pPr>
            <a:r>
              <a:rPr lang="en-US" sz="4400" dirty="0">
                <a:solidFill>
                  <a:schemeClr val="bg1"/>
                </a:solidFill>
                <a:latin typeface="Georgia" pitchFamily="34" charset="0"/>
                <a:ea typeface="Georgia" pitchFamily="34" charset="-122"/>
                <a:cs typeface="Georgia" pitchFamily="34" charset="-120"/>
              </a:rPr>
              <a:t>Ancrer la </a:t>
            </a:r>
            <a:pPr algn="l" indent="0" marL="0">
              <a:buNone/>
            </a:pPr>
            <a:r>
              <a:rPr lang="en-US" sz="4400" i="1" dirty="0">
                <a:solidFill>
                  <a:schemeClr val="accent1"/>
                </a:solidFill>
                <a:latin typeface="Georgia" pitchFamily="34" charset="0"/>
                <a:ea typeface="Georgia" pitchFamily="34" charset="-122"/>
                <a:cs typeface="Georgia" pitchFamily="34" charset="-120"/>
              </a:rPr>
              <a:t>transition Gavi</a:t>
            </a:r>
            <a:pPr algn="l" indent="0" marL="0">
              <a:buNone/>
            </a:pPr>
            <a:r>
              <a:rPr lang="en-US" sz="4400" dirty="0">
                <a:solidFill>
                  <a:schemeClr val="bg1"/>
                </a:solidFill>
                <a:latin typeface="Georgia" pitchFamily="34" charset="0"/>
                <a:ea typeface="Georgia" pitchFamily="34" charset="-122"/>
                <a:cs typeface="Georgia" pitchFamily="34" charset="-120"/>
              </a:rPr>
              <a:t> dans la SNV</a:t>
            </a:r>
            <a:endParaRPr lang="en-US" sz="4400" dirty="0"/>
          </a:p>
        </p:txBody>
      </p:sp>
      <p:sp>
        <p:nvSpPr>
          <p:cNvPr id="7" name="Text 0"/>
          <p:cNvSpPr/>
          <p:nvPr>
            <p:ph idx="102" type="body" hasCustomPrompt="1"/>
          </p:nvPr>
        </p:nvSpPr>
        <p:spPr>
          <a:xfrm>
            <a:off x="812902" y="4343400"/>
            <a:ext cx="4846320" cy="822960"/>
          </a:xfrm>
          <a:prstGeom prst="rect">
            <a:avLst/>
          </a:prstGeom>
          <a:noFill/>
          <a:ln/>
        </p:spPr>
        <p:txBody>
          <a:bodyPr wrap="square" lIns="0" tIns="0" rIns="0" bIns="0" rtlCol="0" anchor="t"/>
          <a:lstStyle/>
          <a:p>
            <a:pPr indent="0" marL="0">
              <a:buNone/>
            </a:pPr>
            <a:r>
              <a:rPr lang="en-US" sz="1800" dirty="0">
                <a:solidFill>
                  <a:schemeClr val="bg2"/>
                </a:solidFill>
                <a:latin typeface="Calibri" pitchFamily="34" charset="0"/>
                <a:ea typeface="Calibri" pitchFamily="34" charset="-122"/>
                <a:cs typeface="Calibri" pitchFamily="34" charset="-120"/>
              </a:rPr>
              <a:t>Où et comment intégrer la feuille de route de financement de la transition accélérée</a:t>
            </a:r>
            <a:endParaRPr lang="en-US" sz="1800" dirty="0"/>
          </a:p>
        </p:txBody>
      </p:sp>
      <p:sp>
        <p:nvSpPr>
          <p:cNvPr id="8" name="Réunion"/>
          <p:cNvSpPr txBox="1"/>
          <p:nvPr/>
        </p:nvSpPr>
        <p:spPr>
          <a:xfrm>
            <a:off x="812902" y="5349240"/>
            <a:ext cx="5120640" cy="27432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Réunion de cadrage   ·   14-15 octobre 2026   ·   Djibouti-ville</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Photo mere-enfant" descr="Une mère tient son enfant sur le seuil d'une maison">    </p:cNvPr>
          <p:cNvPicPr>
            <a:picLocks noChangeAspect="1"/>
          </p:cNvPicPr>
          <p:nvPr/>
        </p:nvPicPr>
        <p:blipFill>
          <a:blip r:embed="rId1"/>
          <a:srcRect l="0" r="0" t="10023" b="10023"/>
          <a:stretch/>
        </p:blipFill>
        <p:spPr>
          <a:xfrm>
            <a:off x="7366406" y="0"/>
            <a:ext cx="4826203" cy="6858000"/>
          </a:xfrm>
          <a:prstGeom prst="rect">
            <a:avLst/>
          </a:prstGeom>
        </p:spPr>
      </p:pic>
      <p:sp>
        <p:nvSpPr>
          <p:cNvPr id="3" name="Text 0"/>
          <p:cNvSpPr/>
          <p:nvPr>
            <p:ph idx="100" type="body" hasCustomPrompt="1"/>
          </p:nvPr>
        </p:nvSpPr>
        <p:spPr>
          <a:xfrm>
            <a:off x="812902" y="713232"/>
            <a:ext cx="6309360"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L'ENJEU</a:t>
            </a:r>
            <a:endParaRPr lang="en-US" sz="1100" dirty="0"/>
          </a:p>
        </p:txBody>
      </p:sp>
      <p:sp>
        <p:nvSpPr>
          <p:cNvPr id="4" name="Text 0"/>
          <p:cNvSpPr/>
          <p:nvPr>
            <p:ph idx="101" type="title" hasCustomPrompt="1"/>
          </p:nvPr>
        </p:nvSpPr>
        <p:spPr>
          <a:xfrm>
            <a:off x="812902" y="1042416"/>
            <a:ext cx="6309360" cy="914400"/>
          </a:xfrm>
          <a:prstGeom prst="rect">
            <a:avLst/>
          </a:prstGeom>
          <a:noFill/>
          <a:ln/>
        </p:spPr>
        <p:txBody>
          <a:bodyPr wrap="square" lIns="0" tIns="0" rIns="0" bIns="0" rtlCol="0" anchor="t"/>
          <a:lstStyle/>
          <a:p>
            <a:pPr algn="l" indent="0" marL="0">
              <a:buNone/>
            </a:pPr>
            <a:r>
              <a:rPr lang="en-US" sz="3000" dirty="0">
                <a:solidFill>
                  <a:schemeClr val="bg1"/>
                </a:solidFill>
                <a:latin typeface="Georgia" pitchFamily="34" charset="0"/>
                <a:ea typeface="Georgia" pitchFamily="34" charset="-122"/>
                <a:cs typeface="Georgia" pitchFamily="34" charset="-120"/>
              </a:rPr>
              <a:t>En 2030, l'État finance seul les vaccins de ses enfants</a:t>
            </a:r>
            <a:endParaRPr lang="en-US" sz="3000" dirty="0"/>
          </a:p>
        </p:txBody>
      </p:sp>
      <p:sp>
        <p:nvSpPr>
          <p:cNvPr id="5" name="Text 0"/>
          <p:cNvSpPr/>
          <p:nvPr>
            <p:ph idx="102" type="body" hasCustomPrompt="1"/>
          </p:nvPr>
        </p:nvSpPr>
        <p:spPr>
          <a:xfrm>
            <a:off x="812902" y="6327648"/>
            <a:ext cx="9834372" cy="27432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Sources : SNV draft 3.8, § 8.2 et 8.5 ; TdR de la réunion de cadrage</a:t>
            </a:r>
            <a:endParaRPr lang="en-US" sz="1000" dirty="0"/>
          </a:p>
        </p:txBody>
      </p:sp>
      <p:sp>
        <p:nvSpPr>
          <p:cNvPr id="6" name="Chiffre clé"/>
          <p:cNvSpPr txBox="1"/>
          <p:nvPr/>
        </p:nvSpPr>
        <p:spPr>
          <a:xfrm>
            <a:off x="812902" y="2240280"/>
            <a:ext cx="2926080" cy="960120"/>
          </a:xfrm>
          <a:prstGeom prst="rect">
            <a:avLst/>
          </a:prstGeom>
          <a:noFill/>
          <a:ln/>
        </p:spPr>
        <p:txBody>
          <a:bodyPr wrap="square" lIns="0" tIns="0" rIns="0" bIns="0" rtlCol="0" anchor="t"/>
          <a:lstStyle/>
          <a:p>
            <a:pPr indent="0" marL="0">
              <a:buNone/>
            </a:pPr>
            <a:r>
              <a:rPr lang="en-US" sz="6600" b="1" dirty="0">
                <a:solidFill>
                  <a:schemeClr val="accent1"/>
                </a:solidFill>
                <a:latin typeface="Georgia" pitchFamily="34" charset="0"/>
                <a:ea typeface="Georgia" pitchFamily="34" charset="-122"/>
                <a:cs typeface="Georgia" pitchFamily="34" charset="-120"/>
              </a:rPr>
              <a:t>100 %</a:t>
            </a:r>
            <a:endParaRPr lang="en-US" sz="6600" dirty="0"/>
          </a:p>
        </p:txBody>
      </p:sp>
      <p:sp>
        <p:nvSpPr>
          <p:cNvPr id="7" name="Légende chiffre clé"/>
          <p:cNvSpPr txBox="1"/>
          <p:nvPr/>
        </p:nvSpPr>
        <p:spPr>
          <a:xfrm>
            <a:off x="812902" y="3246120"/>
            <a:ext cx="2743200" cy="640080"/>
          </a:xfrm>
          <a:prstGeom prst="rect">
            <a:avLst/>
          </a:prstGeom>
          <a:noFill/>
          <a:ln/>
        </p:spPr>
        <p:txBody>
          <a:bodyPr wrap="square" lIns="0" tIns="0" rIns="0" bIns="0" rtlCol="0" anchor="t"/>
          <a:lstStyle/>
          <a:p>
            <a:pPr indent="0" marL="0">
              <a:buNone/>
            </a:pPr>
            <a:r>
              <a:rPr lang="en-US" sz="1500" dirty="0">
                <a:solidFill>
                  <a:schemeClr val="bg2"/>
                </a:solidFill>
                <a:latin typeface="Calibri" pitchFamily="34" charset="0"/>
                <a:ea typeface="Calibri" pitchFamily="34" charset="-122"/>
                <a:cs typeface="Calibri" pitchFamily="34" charset="-120"/>
              </a:rPr>
              <a:t>Part de l'État dans le financement des vaccins en 2030</a:t>
            </a:r>
            <a:endParaRPr lang="en-US" sz="1500" dirty="0"/>
          </a:p>
        </p:txBody>
      </p:sp>
      <p:graphicFrame>
        <p:nvGraphicFramePr>
          <p:cNvPr id="8" name="Graphique trajectoire" descr=""/>
          <p:cNvGraphicFramePr/>
          <p:nvPr/>
        </p:nvGraphicFramePr>
        <p:xfrm>
          <a:off x="3886200" y="2011680"/>
          <a:ext cx="3017520" cy="1965960"/>
        </p:xfrm>
        <a:graphic xmlns:a="http://schemas.openxmlformats.org/drawingml/2006/main">
          <a:graphicData uri="http://schemas.openxmlformats.org/drawingml/2006/chart">
            <c:chart xmlns:c="http://schemas.openxmlformats.org/drawingml/2006/chart" r:id="rId2"/>
          </a:graphicData>
        </a:graphic>
      </p:graphicFrame>
      <p:sp>
        <p:nvSpPr>
          <p:cNvPr id="9" name="Stat fin Gavi"/>
          <p:cNvSpPr txBox="1"/>
          <p:nvPr/>
        </p:nvSpPr>
        <p:spPr>
          <a:xfrm>
            <a:off x="812902" y="4434840"/>
            <a:ext cx="2834640" cy="457200"/>
          </a:xfrm>
          <a:prstGeom prst="rect">
            <a:avLst/>
          </a:prstGeom>
          <a:noFill/>
          <a:ln/>
        </p:spPr>
        <p:txBody>
          <a:bodyPr wrap="square" lIns="0" tIns="0" rIns="0" bIns="0" rtlCol="0" anchor="t"/>
          <a:lstStyle/>
          <a:p>
            <a:pPr indent="0" marL="0">
              <a:buNone/>
            </a:pPr>
            <a:r>
              <a:rPr lang="en-US" sz="2600" dirty="0">
                <a:solidFill>
                  <a:schemeClr val="bg1"/>
                </a:solidFill>
                <a:latin typeface="Georgia" pitchFamily="34" charset="0"/>
                <a:ea typeface="Georgia" pitchFamily="34" charset="-122"/>
                <a:cs typeface="Georgia" pitchFamily="34" charset="-120"/>
              </a:rPr>
              <a:t>31 déc. 2029</a:t>
            </a:r>
            <a:endParaRPr lang="en-US" sz="2600" dirty="0"/>
          </a:p>
        </p:txBody>
      </p:sp>
      <p:sp>
        <p:nvSpPr>
          <p:cNvPr id="10" name="Légende fin Gavi"/>
          <p:cNvSpPr txBox="1"/>
          <p:nvPr/>
        </p:nvSpPr>
        <p:spPr>
          <a:xfrm>
            <a:off x="812902" y="4937760"/>
            <a:ext cx="2743200" cy="64008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Fin du soutien de Gavi au financement des vaccins</a:t>
            </a:r>
            <a:endParaRPr lang="en-US" sz="1400" dirty="0"/>
          </a:p>
        </p:txBody>
      </p:sp>
      <p:sp>
        <p:nvSpPr>
          <p:cNvPr id="11" name="Stat charge 2030"/>
          <p:cNvSpPr txBox="1"/>
          <p:nvPr/>
        </p:nvSpPr>
        <p:spPr>
          <a:xfrm>
            <a:off x="3886200" y="4434840"/>
            <a:ext cx="3108960" cy="457200"/>
          </a:xfrm>
          <a:prstGeom prst="rect">
            <a:avLst/>
          </a:prstGeom>
          <a:noFill/>
          <a:ln/>
        </p:spPr>
        <p:txBody>
          <a:bodyPr wrap="square" lIns="0" tIns="0" rIns="0" bIns="0" rtlCol="0" anchor="t"/>
          <a:lstStyle/>
          <a:p>
            <a:pPr indent="0" marL="0">
              <a:buNone/>
            </a:pPr>
            <a:r>
              <a:rPr lang="en-US" sz="2600" dirty="0">
                <a:solidFill>
                  <a:schemeClr val="bg1"/>
                </a:solidFill>
                <a:latin typeface="Georgia" pitchFamily="34" charset="0"/>
                <a:ea typeface="Georgia" pitchFamily="34" charset="-122"/>
                <a:cs typeface="Georgia" pitchFamily="34" charset="-120"/>
              </a:rPr>
              <a:t>0,85 M USD</a:t>
            </a:r>
            <a:endParaRPr lang="en-US" sz="2600" dirty="0"/>
          </a:p>
        </p:txBody>
      </p:sp>
      <p:sp>
        <p:nvSpPr>
          <p:cNvPr id="12" name="Légende charge 2030"/>
          <p:cNvSpPr txBox="1"/>
          <p:nvPr/>
        </p:nvSpPr>
        <p:spPr>
          <a:xfrm>
            <a:off x="3886200" y="4937760"/>
            <a:ext cx="3108960" cy="64008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Charge de l'État pour les vaccins en 2030, soit ≈ 0,45 % de son budget</a:t>
            </a:r>
            <a:endParaRPr lang="en-US" sz="14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12902" y="713232"/>
            <a:ext cx="10565892"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STRUCTURE DU DOCUMENT</a:t>
            </a:r>
            <a:endParaRPr lang="en-US" sz="1100" dirty="0"/>
          </a:p>
        </p:txBody>
      </p:sp>
      <p:sp>
        <p:nvSpPr>
          <p:cNvPr id="3" name="Text 0"/>
          <p:cNvSpPr/>
          <p:nvPr>
            <p:ph idx="101" type="title" hasCustomPrompt="1"/>
          </p:nvPr>
        </p:nvSpPr>
        <p:spPr>
          <a:xfrm>
            <a:off x="812902" y="1042416"/>
            <a:ext cx="10565892" cy="914400"/>
          </a:xfrm>
          <a:prstGeom prst="rect">
            <a:avLst/>
          </a:prstGeom>
          <a:noFill/>
          <a:ln/>
        </p:spPr>
        <p:txBody>
          <a:bodyPr wrap="square" lIns="0" tIns="0" rIns="0" bIns="0" rtlCol="0" anchor="t"/>
          <a:lstStyle/>
          <a:p>
            <a:pPr algn="l" indent="0" marL="0">
              <a:buNone/>
            </a:pPr>
            <a:r>
              <a:rPr lang="en-US" sz="3000" dirty="0">
                <a:solidFill>
                  <a:schemeClr val="bg1"/>
                </a:solidFill>
                <a:latin typeface="Georgia" pitchFamily="34" charset="0"/>
                <a:ea typeface="Georgia" pitchFamily="34" charset="-122"/>
                <a:cs typeface="Georgia" pitchFamily="34" charset="-120"/>
              </a:rPr>
              <a:t>La SNV 2027-2030 en dix chapitres</a:t>
            </a:r>
            <a:endParaRPr lang="en-US" sz="3000" dirty="0"/>
          </a:p>
        </p:txBody>
      </p:sp>
      <p:sp>
        <p:nvSpPr>
          <p:cNvPr id="4" name="Text 0"/>
          <p:cNvSpPr/>
          <p:nvPr>
            <p:ph idx="102" type="body" hasCustomPrompt="1"/>
          </p:nvPr>
        </p:nvSpPr>
        <p:spPr>
          <a:xfrm>
            <a:off x="812902" y="6327648"/>
            <a:ext cx="9834372" cy="27432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Chapitres 1 à 9 : corps du document · Chapitre 10 : annexes A1 à A6, documents distincts accessibles par lien · En or : les ancrages proposés</a:t>
            </a:r>
            <a:endParaRPr lang="en-US" sz="1000" dirty="0"/>
          </a:p>
        </p:txBody>
      </p:sp>
      <p:sp>
        <p:nvSpPr>
          <p:cNvPr id="5" name="Chapitre 1"/>
          <p:cNvSpPr/>
          <p:nvPr/>
        </p:nvSpPr>
        <p:spPr>
          <a:xfrm>
            <a:off x="812902" y="1874520"/>
            <a:ext cx="1991015" cy="1700784"/>
          </a:xfrm>
          <a:prstGeom prst="roundRect">
            <a:avLst>
              <a:gd name="adj" fmla="val 6452"/>
            </a:avLst>
          </a:prstGeom>
          <a:solidFill>
            <a:schemeClr val="tx2"/>
          </a:solidFill>
          <a:ln w="9525">
            <a:solidFill>
              <a:schemeClr val="accent5"/>
            </a:solidFill>
          </a:ln>
        </p:spPr>
        <p:txBody>
          <a:bodyPr wrap="square" lIns="127000" tIns="152400" rIns="152400" bIns="127000" rtlCol="0" anchor="t"/>
          <a:lstStyle/>
          <a:p>
            <a:pPr indent="0" marL="0">
              <a:spcAft>
                <a:spcPts val="400"/>
              </a:spcAft>
              <a:buNone/>
            </a:pPr>
            <a:r>
              <a:rPr lang="en-US" sz="2000" b="1" dirty="0">
                <a:solidFill>
                  <a:schemeClr val="accent4"/>
                </a:solidFill>
                <a:latin typeface="Georgia" pitchFamily="34" charset="0"/>
                <a:ea typeface="Georgia" pitchFamily="34" charset="-122"/>
                <a:cs typeface="Georgia" pitchFamily="34" charset="-120"/>
              </a:rPr>
              <a:t>1</a:t>
            </a:r>
            <a:endParaRPr lang="en-US" sz="2000" dirty="0"/>
          </a:p>
          <a:p>
            <a:pPr indent="0" marL="0">
              <a:spcAft>
                <a:spcPts val="400"/>
              </a:spcAft>
              <a:buNone/>
            </a:pPr>
            <a:r>
              <a:rPr lang="en-US" sz="1500" dirty="0">
                <a:solidFill>
                  <a:schemeClr val="bg1"/>
                </a:solidFill>
                <a:latin typeface="Calibri" pitchFamily="34" charset="0"/>
                <a:ea typeface="Calibri" pitchFamily="34" charset="-122"/>
                <a:cs typeface="Calibri" pitchFamily="34" charset="-120"/>
              </a:rPr>
              <a:t>Introduction</a:t>
            </a:r>
            <a:endParaRPr lang="en-US" sz="2000" dirty="0"/>
          </a:p>
        </p:txBody>
      </p:sp>
      <p:sp>
        <p:nvSpPr>
          <p:cNvPr id="6" name="Chapitre 2"/>
          <p:cNvSpPr/>
          <p:nvPr/>
        </p:nvSpPr>
        <p:spPr>
          <a:xfrm>
            <a:off x="2956621" y="1874520"/>
            <a:ext cx="1991015" cy="1700784"/>
          </a:xfrm>
          <a:prstGeom prst="roundRect">
            <a:avLst>
              <a:gd name="adj" fmla="val 6452"/>
            </a:avLst>
          </a:prstGeom>
          <a:solidFill>
            <a:schemeClr val="tx2"/>
          </a:solidFill>
          <a:ln w="9525">
            <a:solidFill>
              <a:schemeClr val="accent5"/>
            </a:solidFill>
          </a:ln>
        </p:spPr>
        <p:txBody>
          <a:bodyPr wrap="square" lIns="127000" tIns="152400" rIns="152400" bIns="127000" rtlCol="0" anchor="t"/>
          <a:lstStyle/>
          <a:p>
            <a:pPr indent="0" marL="0">
              <a:spcAft>
                <a:spcPts val="400"/>
              </a:spcAft>
              <a:buNone/>
            </a:pPr>
            <a:r>
              <a:rPr lang="en-US" sz="2000" b="1" dirty="0">
                <a:solidFill>
                  <a:schemeClr val="accent4"/>
                </a:solidFill>
                <a:latin typeface="Georgia" pitchFamily="34" charset="0"/>
                <a:ea typeface="Georgia" pitchFamily="34" charset="-122"/>
                <a:cs typeface="Georgia" pitchFamily="34" charset="-120"/>
              </a:rPr>
              <a:t>2</a:t>
            </a:r>
            <a:endParaRPr lang="en-US" sz="2000" dirty="0"/>
          </a:p>
          <a:p>
            <a:pPr indent="0" marL="0">
              <a:spcAft>
                <a:spcPts val="400"/>
              </a:spcAft>
              <a:buNone/>
            </a:pPr>
            <a:r>
              <a:rPr lang="en-US" sz="1500" dirty="0">
                <a:solidFill>
                  <a:schemeClr val="bg1"/>
                </a:solidFill>
                <a:latin typeface="Calibri" pitchFamily="34" charset="0"/>
                <a:ea typeface="Calibri" pitchFamily="34" charset="-122"/>
                <a:cs typeface="Calibri" pitchFamily="34" charset="-120"/>
              </a:rPr>
              <a:t>Le PEV</a:t>
            </a:r>
            <a:endParaRPr lang="en-US" sz="2000" dirty="0"/>
          </a:p>
        </p:txBody>
      </p:sp>
      <p:sp>
        <p:nvSpPr>
          <p:cNvPr id="7" name="Chapitre 3"/>
          <p:cNvSpPr/>
          <p:nvPr/>
        </p:nvSpPr>
        <p:spPr>
          <a:xfrm>
            <a:off x="5100340" y="1874520"/>
            <a:ext cx="1991015" cy="1700784"/>
          </a:xfrm>
          <a:prstGeom prst="roundRect">
            <a:avLst>
              <a:gd name="adj" fmla="val 6452"/>
            </a:avLst>
          </a:prstGeom>
          <a:solidFill>
            <a:schemeClr val="tx2"/>
          </a:solidFill>
          <a:ln w="9525">
            <a:solidFill>
              <a:schemeClr val="accent5"/>
            </a:solidFill>
          </a:ln>
        </p:spPr>
        <p:txBody>
          <a:bodyPr wrap="square" lIns="127000" tIns="152400" rIns="152400" bIns="127000" rtlCol="0" anchor="t"/>
          <a:lstStyle/>
          <a:p>
            <a:pPr indent="0" marL="0">
              <a:spcAft>
                <a:spcPts val="400"/>
              </a:spcAft>
              <a:buNone/>
            </a:pPr>
            <a:r>
              <a:rPr lang="en-US" sz="2000" b="1" dirty="0">
                <a:solidFill>
                  <a:schemeClr val="accent4"/>
                </a:solidFill>
                <a:latin typeface="Georgia" pitchFamily="34" charset="0"/>
                <a:ea typeface="Georgia" pitchFamily="34" charset="-122"/>
                <a:cs typeface="Georgia" pitchFamily="34" charset="-120"/>
              </a:rPr>
              <a:t>3</a:t>
            </a:r>
            <a:endParaRPr lang="en-US" sz="2000" dirty="0"/>
          </a:p>
          <a:p>
            <a:pPr indent="0" marL="0">
              <a:spcAft>
                <a:spcPts val="400"/>
              </a:spcAft>
              <a:buNone/>
            </a:pPr>
            <a:r>
              <a:rPr lang="en-US" sz="1500" dirty="0">
                <a:solidFill>
                  <a:schemeClr val="bg1"/>
                </a:solidFill>
                <a:latin typeface="Calibri" pitchFamily="34" charset="0"/>
                <a:ea typeface="Calibri" pitchFamily="34" charset="-122"/>
                <a:cs typeface="Calibri" pitchFamily="34" charset="-120"/>
              </a:rPr>
              <a:t>Processus d'élaboration</a:t>
            </a:r>
            <a:endParaRPr lang="en-US" sz="2000" dirty="0"/>
          </a:p>
        </p:txBody>
      </p:sp>
      <p:sp>
        <p:nvSpPr>
          <p:cNvPr id="8" name="Chapitre 4"/>
          <p:cNvSpPr/>
          <p:nvPr/>
        </p:nvSpPr>
        <p:spPr>
          <a:xfrm>
            <a:off x="7244060" y="1874520"/>
            <a:ext cx="1991015" cy="1700784"/>
          </a:xfrm>
          <a:prstGeom prst="roundRect">
            <a:avLst>
              <a:gd name="adj" fmla="val 6452"/>
            </a:avLst>
          </a:prstGeom>
          <a:solidFill>
            <a:schemeClr val="tx2"/>
          </a:solidFill>
          <a:ln w="9525">
            <a:solidFill>
              <a:schemeClr val="accent5"/>
            </a:solidFill>
          </a:ln>
        </p:spPr>
        <p:txBody>
          <a:bodyPr wrap="square" lIns="127000" tIns="152400" rIns="152400" bIns="127000" rtlCol="0" anchor="t"/>
          <a:lstStyle/>
          <a:p>
            <a:pPr indent="0" marL="0">
              <a:spcAft>
                <a:spcPts val="400"/>
              </a:spcAft>
              <a:buNone/>
            </a:pPr>
            <a:r>
              <a:rPr lang="en-US" sz="2000" b="1" dirty="0">
                <a:solidFill>
                  <a:schemeClr val="accent4"/>
                </a:solidFill>
                <a:latin typeface="Georgia" pitchFamily="34" charset="0"/>
                <a:ea typeface="Georgia" pitchFamily="34" charset="-122"/>
                <a:cs typeface="Georgia" pitchFamily="34" charset="-120"/>
              </a:rPr>
              <a:t>4</a:t>
            </a:r>
            <a:endParaRPr lang="en-US" sz="2000" dirty="0"/>
          </a:p>
          <a:p>
            <a:pPr indent="0" marL="0">
              <a:spcAft>
                <a:spcPts val="400"/>
              </a:spcAft>
              <a:buNone/>
            </a:pPr>
            <a:r>
              <a:rPr lang="en-US" sz="1500" dirty="0">
                <a:solidFill>
                  <a:schemeClr val="bg1"/>
                </a:solidFill>
                <a:latin typeface="Calibri" pitchFamily="34" charset="0"/>
                <a:ea typeface="Calibri" pitchFamily="34" charset="-122"/>
                <a:cs typeface="Calibri" pitchFamily="34" charset="-120"/>
              </a:rPr>
              <a:t>Analyse de la situation</a:t>
            </a:r>
            <a:endParaRPr lang="en-US" sz="2000" dirty="0"/>
          </a:p>
        </p:txBody>
      </p:sp>
      <p:sp>
        <p:nvSpPr>
          <p:cNvPr id="9" name="Chapitre 5"/>
          <p:cNvSpPr/>
          <p:nvPr/>
        </p:nvSpPr>
        <p:spPr>
          <a:xfrm>
            <a:off x="9387779" y="1874520"/>
            <a:ext cx="1991015" cy="1700784"/>
          </a:xfrm>
          <a:prstGeom prst="roundRect">
            <a:avLst>
              <a:gd name="adj" fmla="val 6452"/>
            </a:avLst>
          </a:prstGeom>
          <a:solidFill>
            <a:schemeClr val="tx2"/>
          </a:solidFill>
          <a:ln w="9525">
            <a:solidFill>
              <a:schemeClr val="accent5"/>
            </a:solidFill>
          </a:ln>
        </p:spPr>
        <p:txBody>
          <a:bodyPr wrap="square" lIns="127000" tIns="152400" rIns="152400" bIns="127000" rtlCol="0" anchor="t"/>
          <a:lstStyle/>
          <a:p>
            <a:pPr indent="0" marL="0">
              <a:spcAft>
                <a:spcPts val="400"/>
              </a:spcAft>
              <a:buNone/>
            </a:pPr>
            <a:r>
              <a:rPr lang="en-US" sz="2000" b="1" dirty="0">
                <a:solidFill>
                  <a:schemeClr val="accent4"/>
                </a:solidFill>
                <a:latin typeface="Georgia" pitchFamily="34" charset="0"/>
                <a:ea typeface="Georgia" pitchFamily="34" charset="-122"/>
                <a:cs typeface="Georgia" pitchFamily="34" charset="-120"/>
              </a:rPr>
              <a:t>5</a:t>
            </a:r>
            <a:endParaRPr lang="en-US" sz="2000" dirty="0"/>
          </a:p>
          <a:p>
            <a:pPr indent="0" marL="0">
              <a:spcAft>
                <a:spcPts val="400"/>
              </a:spcAft>
              <a:buNone/>
            </a:pPr>
            <a:r>
              <a:rPr lang="en-US" sz="1500" dirty="0">
                <a:solidFill>
                  <a:schemeClr val="bg1"/>
                </a:solidFill>
                <a:latin typeface="Calibri" pitchFamily="34" charset="0"/>
                <a:ea typeface="Calibri" pitchFamily="34" charset="-122"/>
                <a:cs typeface="Calibri" pitchFamily="34" charset="-120"/>
              </a:rPr>
              <a:t>Vision, but et considérations spéciales</a:t>
            </a:r>
            <a:endParaRPr lang="en-US" sz="2000" dirty="0"/>
          </a:p>
        </p:txBody>
      </p:sp>
      <p:sp>
        <p:nvSpPr>
          <p:cNvPr id="10" name="Chapitre 6"/>
          <p:cNvSpPr/>
          <p:nvPr/>
        </p:nvSpPr>
        <p:spPr>
          <a:xfrm>
            <a:off x="812902" y="3739896"/>
            <a:ext cx="1991015" cy="1700784"/>
          </a:xfrm>
          <a:prstGeom prst="roundRect">
            <a:avLst>
              <a:gd name="adj" fmla="val 6452"/>
            </a:avLst>
          </a:prstGeom>
          <a:solidFill>
            <a:schemeClr val="accent1"/>
          </a:solidFill>
          <a:ln/>
        </p:spPr>
        <p:txBody>
          <a:bodyPr wrap="square" lIns="127000" tIns="152400" rIns="152400" bIns="127000" rtlCol="0" anchor="t"/>
          <a:lstStyle/>
          <a:p>
            <a:pPr indent="0" marL="0">
              <a:spcAft>
                <a:spcPts val="400"/>
              </a:spcAft>
              <a:buNone/>
            </a:pPr>
            <a:r>
              <a:rPr lang="en-US" sz="2000" b="1" dirty="0">
                <a:solidFill>
                  <a:schemeClr val="tx1"/>
                </a:solidFill>
                <a:latin typeface="Georgia" pitchFamily="34" charset="0"/>
                <a:ea typeface="Georgia" pitchFamily="34" charset="-122"/>
                <a:cs typeface="Georgia" pitchFamily="34" charset="-120"/>
              </a:rPr>
              <a:t>6</a:t>
            </a:r>
            <a:endParaRPr lang="en-US" sz="2000" dirty="0"/>
          </a:p>
          <a:p>
            <a:pPr indent="0" marL="0">
              <a:spcAft>
                <a:spcPts val="400"/>
              </a:spcAft>
              <a:buNone/>
            </a:pPr>
            <a:r>
              <a:rPr lang="en-US" sz="1500" dirty="0">
                <a:solidFill>
                  <a:schemeClr val="tx1"/>
                </a:solidFill>
                <a:latin typeface="Calibri" pitchFamily="34" charset="0"/>
                <a:ea typeface="Calibri" pitchFamily="34" charset="-122"/>
                <a:cs typeface="Calibri" pitchFamily="34" charset="-120"/>
              </a:rPr>
              <a:t>Objectifs stratégiques et interventions</a:t>
            </a:r>
            <a:endParaRPr lang="en-US" sz="2000" dirty="0"/>
          </a:p>
        </p:txBody>
      </p:sp>
      <p:sp>
        <p:nvSpPr>
          <p:cNvPr id="11" name="Lien Renvoi 1.5"/>
          <p:cNvSpPr/>
          <p:nvPr/>
        </p:nvSpPr>
        <p:spPr>
          <a:xfrm>
            <a:off x="940918" y="5001768"/>
            <a:ext cx="1234440" cy="292608"/>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u="sng" dirty="0">
                <a:solidFill>
                  <a:schemeClr val="accent1"/>
                </a:solidFill>
                <a:latin typeface="Calibri" pitchFamily="34" charset="0"/>
                <a:ea typeface="Calibri" pitchFamily="34" charset="-122"/>
                <a:cs typeface="Calibri" pitchFamily="34" charset="-120"/>
                <a:hlinkClick r:id="rId1" action="ppaction://hlinksldjump" tooltip="Voir le détail">
                  <a:extLst>
                    <a:ext uri="{A12FA001-AC4F-418D-AE19-62706E023703}">
                      <ahyp:hlinkClr xmlns:ahyp="http://schemas.microsoft.com/office/drawing/2018/hyperlinkcolor" val="tx"/>
                    </a:ext>
                  </a:extLst>
                </a:hlinkClick>
              </a:rPr>
              <a:t>Renvoi 1.5  →</a:t>
            </a:r>
            <a:endParaRPr lang="en-US" sz="1000" dirty="0"/>
          </a:p>
        </p:txBody>
      </p:sp>
      <p:sp>
        <p:nvSpPr>
          <p:cNvPr id="12" name="Chapitre 7"/>
          <p:cNvSpPr/>
          <p:nvPr/>
        </p:nvSpPr>
        <p:spPr>
          <a:xfrm>
            <a:off x="2956621" y="3739896"/>
            <a:ext cx="1991015" cy="1700784"/>
          </a:xfrm>
          <a:prstGeom prst="roundRect">
            <a:avLst>
              <a:gd name="adj" fmla="val 6452"/>
            </a:avLst>
          </a:prstGeom>
          <a:solidFill>
            <a:schemeClr val="tx2"/>
          </a:solidFill>
          <a:ln w="9525">
            <a:solidFill>
              <a:schemeClr val="accent5"/>
            </a:solidFill>
          </a:ln>
        </p:spPr>
        <p:txBody>
          <a:bodyPr wrap="square" lIns="127000" tIns="152400" rIns="152400" bIns="127000" rtlCol="0" anchor="t"/>
          <a:lstStyle/>
          <a:p>
            <a:pPr indent="0" marL="0">
              <a:spcAft>
                <a:spcPts val="400"/>
              </a:spcAft>
              <a:buNone/>
            </a:pPr>
            <a:r>
              <a:rPr lang="en-US" sz="2000" b="1" dirty="0">
                <a:solidFill>
                  <a:schemeClr val="accent4"/>
                </a:solidFill>
                <a:latin typeface="Georgia" pitchFamily="34" charset="0"/>
                <a:ea typeface="Georgia" pitchFamily="34" charset="-122"/>
                <a:cs typeface="Georgia" pitchFamily="34" charset="-120"/>
              </a:rPr>
              <a:t>7</a:t>
            </a:r>
            <a:endParaRPr lang="en-US" sz="2000" dirty="0"/>
          </a:p>
          <a:p>
            <a:pPr indent="0" marL="0">
              <a:spcAft>
                <a:spcPts val="400"/>
              </a:spcAft>
              <a:buNone/>
            </a:pPr>
            <a:r>
              <a:rPr lang="en-US" sz="1500" dirty="0">
                <a:solidFill>
                  <a:schemeClr val="bg1"/>
                </a:solidFill>
                <a:latin typeface="Calibri" pitchFamily="34" charset="0"/>
                <a:ea typeface="Calibri" pitchFamily="34" charset="-122"/>
                <a:cs typeface="Calibri" pitchFamily="34" charset="-120"/>
              </a:rPr>
              <a:t>Suivi et évaluation</a:t>
            </a:r>
            <a:endParaRPr lang="en-US" sz="2000" dirty="0"/>
          </a:p>
        </p:txBody>
      </p:sp>
      <p:sp>
        <p:nvSpPr>
          <p:cNvPr id="13" name="Chapitre 8"/>
          <p:cNvSpPr/>
          <p:nvPr/>
        </p:nvSpPr>
        <p:spPr>
          <a:xfrm>
            <a:off x="5100340" y="3739896"/>
            <a:ext cx="1991015" cy="1700784"/>
          </a:xfrm>
          <a:prstGeom prst="roundRect">
            <a:avLst>
              <a:gd name="adj" fmla="val 6452"/>
            </a:avLst>
          </a:prstGeom>
          <a:solidFill>
            <a:schemeClr val="accent1"/>
          </a:solidFill>
          <a:ln/>
        </p:spPr>
        <p:txBody>
          <a:bodyPr wrap="square" lIns="127000" tIns="152400" rIns="152400" bIns="127000" rtlCol="0" anchor="t"/>
          <a:lstStyle/>
          <a:p>
            <a:pPr indent="0" marL="0">
              <a:spcAft>
                <a:spcPts val="400"/>
              </a:spcAft>
              <a:buNone/>
            </a:pPr>
            <a:r>
              <a:rPr lang="en-US" sz="2000" b="1" dirty="0">
                <a:solidFill>
                  <a:schemeClr val="tx1"/>
                </a:solidFill>
                <a:latin typeface="Georgia" pitchFamily="34" charset="0"/>
                <a:ea typeface="Georgia" pitchFamily="34" charset="-122"/>
                <a:cs typeface="Georgia" pitchFamily="34" charset="-120"/>
              </a:rPr>
              <a:t>8</a:t>
            </a:r>
            <a:endParaRPr lang="en-US" sz="2000" dirty="0"/>
          </a:p>
          <a:p>
            <a:pPr indent="0" marL="0">
              <a:spcAft>
                <a:spcPts val="400"/>
              </a:spcAft>
              <a:buNone/>
            </a:pPr>
            <a:r>
              <a:rPr lang="en-US" sz="1500" dirty="0">
                <a:solidFill>
                  <a:schemeClr val="tx1"/>
                </a:solidFill>
                <a:latin typeface="Calibri" pitchFamily="34" charset="0"/>
                <a:ea typeface="Calibri" pitchFamily="34" charset="-122"/>
                <a:cs typeface="Calibri" pitchFamily="34" charset="-120"/>
              </a:rPr>
              <a:t>Chiffrage et financement</a:t>
            </a:r>
            <a:endParaRPr lang="en-US" sz="2000" dirty="0"/>
          </a:p>
        </p:txBody>
      </p:sp>
      <p:sp>
        <p:nvSpPr>
          <p:cNvPr id="14" name="Lien Section 8.5"/>
          <p:cNvSpPr/>
          <p:nvPr/>
        </p:nvSpPr>
        <p:spPr>
          <a:xfrm>
            <a:off x="5228356" y="5001768"/>
            <a:ext cx="1234440" cy="292608"/>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u="sng" dirty="0">
                <a:solidFill>
                  <a:schemeClr val="accent1"/>
                </a:solidFill>
                <a:latin typeface="Calibri" pitchFamily="34" charset="0"/>
                <a:ea typeface="Calibri" pitchFamily="34" charset="-122"/>
                <a:cs typeface="Calibri" pitchFamily="34" charset="-120"/>
                <a:hlinkClick r:id="rId2" action="ppaction://hlinksldjump" tooltip="Voir le détail">
                  <a:extLst>
                    <a:ext uri="{A12FA001-AC4F-418D-AE19-62706E023703}">
                      <ahyp:hlinkClr xmlns:ahyp="http://schemas.microsoft.com/office/drawing/2018/hyperlinkcolor" val="tx"/>
                    </a:ext>
                  </a:extLst>
                </a:hlinkClick>
              </a:rPr>
              <a:t>Section 8.5  →</a:t>
            </a:r>
            <a:endParaRPr lang="en-US" sz="1000" dirty="0"/>
          </a:p>
        </p:txBody>
      </p:sp>
      <p:sp>
        <p:nvSpPr>
          <p:cNvPr id="15" name="Chapitre 9"/>
          <p:cNvSpPr/>
          <p:nvPr/>
        </p:nvSpPr>
        <p:spPr>
          <a:xfrm>
            <a:off x="7244060" y="3739896"/>
            <a:ext cx="1991015" cy="1700784"/>
          </a:xfrm>
          <a:prstGeom prst="roundRect">
            <a:avLst>
              <a:gd name="adj" fmla="val 6452"/>
            </a:avLst>
          </a:prstGeom>
          <a:solidFill>
            <a:schemeClr val="tx2"/>
          </a:solidFill>
          <a:ln w="9525">
            <a:solidFill>
              <a:schemeClr val="accent5"/>
            </a:solidFill>
          </a:ln>
        </p:spPr>
        <p:txBody>
          <a:bodyPr wrap="square" lIns="127000" tIns="152400" rIns="152400" bIns="127000" rtlCol="0" anchor="t"/>
          <a:lstStyle/>
          <a:p>
            <a:pPr indent="0" marL="0">
              <a:spcAft>
                <a:spcPts val="400"/>
              </a:spcAft>
              <a:buNone/>
            </a:pPr>
            <a:r>
              <a:rPr lang="en-US" sz="2000" b="1" dirty="0">
                <a:solidFill>
                  <a:schemeClr val="accent4"/>
                </a:solidFill>
                <a:latin typeface="Georgia" pitchFamily="34" charset="0"/>
                <a:ea typeface="Georgia" pitchFamily="34" charset="-122"/>
                <a:cs typeface="Georgia" pitchFamily="34" charset="-120"/>
              </a:rPr>
              <a:t>9</a:t>
            </a:r>
            <a:endParaRPr lang="en-US" sz="2000" dirty="0"/>
          </a:p>
          <a:p>
            <a:pPr indent="0" marL="0">
              <a:spcAft>
                <a:spcPts val="400"/>
              </a:spcAft>
              <a:buNone/>
            </a:pPr>
            <a:r>
              <a:rPr lang="en-US" sz="1500" dirty="0">
                <a:solidFill>
                  <a:schemeClr val="bg1"/>
                </a:solidFill>
                <a:latin typeface="Calibri" pitchFamily="34" charset="0"/>
                <a:ea typeface="Calibri" pitchFamily="34" charset="-122"/>
                <a:cs typeface="Calibri" pitchFamily="34" charset="-120"/>
              </a:rPr>
              <a:t>Calendrier de l'exercice 2027</a:t>
            </a:r>
            <a:endParaRPr lang="en-US" sz="2000" dirty="0"/>
          </a:p>
        </p:txBody>
      </p:sp>
      <p:sp>
        <p:nvSpPr>
          <p:cNvPr id="16" name="Chapitre 10"/>
          <p:cNvSpPr/>
          <p:nvPr/>
        </p:nvSpPr>
        <p:spPr>
          <a:xfrm>
            <a:off x="9387779" y="3739896"/>
            <a:ext cx="1991015" cy="1700784"/>
          </a:xfrm>
          <a:prstGeom prst="roundRect">
            <a:avLst>
              <a:gd name="adj" fmla="val 6452"/>
            </a:avLst>
          </a:prstGeom>
          <a:solidFill>
            <a:schemeClr val="accent1"/>
          </a:solidFill>
          <a:ln/>
        </p:spPr>
        <p:txBody>
          <a:bodyPr wrap="square" lIns="127000" tIns="152400" rIns="152400" bIns="127000" rtlCol="0" anchor="t"/>
          <a:lstStyle/>
          <a:p>
            <a:pPr indent="0" marL="0">
              <a:spcAft>
                <a:spcPts val="400"/>
              </a:spcAft>
              <a:buNone/>
            </a:pPr>
            <a:r>
              <a:rPr lang="en-US" sz="2000" b="1" dirty="0">
                <a:solidFill>
                  <a:schemeClr val="tx1"/>
                </a:solidFill>
                <a:latin typeface="Georgia" pitchFamily="34" charset="0"/>
                <a:ea typeface="Georgia" pitchFamily="34" charset="-122"/>
                <a:cs typeface="Georgia" pitchFamily="34" charset="-120"/>
              </a:rPr>
              <a:t>10</a:t>
            </a:r>
            <a:endParaRPr lang="en-US" sz="2000" dirty="0"/>
          </a:p>
          <a:p>
            <a:pPr indent="0" marL="0">
              <a:spcAft>
                <a:spcPts val="400"/>
              </a:spcAft>
              <a:buNone/>
            </a:pPr>
            <a:r>
              <a:rPr lang="en-US" sz="1500" dirty="0">
                <a:solidFill>
                  <a:schemeClr val="tx1"/>
                </a:solidFill>
                <a:latin typeface="Calibri" pitchFamily="34" charset="0"/>
                <a:ea typeface="Calibri" pitchFamily="34" charset="-122"/>
                <a:cs typeface="Calibri" pitchFamily="34" charset="-120"/>
              </a:rPr>
              <a:t>Annexes</a:t>
            </a:r>
            <a:endParaRPr lang="en-US" sz="2000" dirty="0"/>
          </a:p>
        </p:txBody>
      </p:sp>
      <p:sp>
        <p:nvSpPr>
          <p:cNvPr id="17" name="Lien Annexe 7"/>
          <p:cNvSpPr/>
          <p:nvPr/>
        </p:nvSpPr>
        <p:spPr>
          <a:xfrm>
            <a:off x="9515795" y="5001768"/>
            <a:ext cx="1234440" cy="292608"/>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u="sng" dirty="0">
                <a:solidFill>
                  <a:schemeClr val="accent1"/>
                </a:solidFill>
                <a:latin typeface="Calibri" pitchFamily="34" charset="0"/>
                <a:ea typeface="Calibri" pitchFamily="34" charset="-122"/>
                <a:cs typeface="Calibri" pitchFamily="34" charset="-120"/>
                <a:hlinkClick r:id="rId3" action="ppaction://hlinksldjump" tooltip="Voir le détail">
                  <a:extLst>
                    <a:ext uri="{A12FA001-AC4F-418D-AE19-62706E023703}">
                      <ahyp:hlinkClr xmlns:ahyp="http://schemas.microsoft.com/office/drawing/2018/hyperlinkcolor" val="tx"/>
                    </a:ext>
                  </a:extLst>
                </a:hlinkClick>
              </a:rPr>
              <a:t>Annexe 7  →</a:t>
            </a:r>
            <a:endParaRPr lang="en-US" sz="10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Photo paysage" descr="Paysage de Djibouti : plaine aride, village et mer au pied des montagnes">    </p:cNvPr>
          <p:cNvPicPr>
            <a:picLocks noChangeAspect="1"/>
          </p:cNvPicPr>
          <p:nvPr/>
        </p:nvPicPr>
        <p:blipFill>
          <a:blip r:embed="rId1"/>
          <a:srcRect l="5524" r="5524" t="0" b="0"/>
          <a:stretch/>
        </p:blipFill>
        <p:spPr>
          <a:xfrm>
            <a:off x="0" y="0"/>
            <a:ext cx="12191695" cy="6858000"/>
          </a:xfrm>
          <a:prstGeom prst="rect">
            <a:avLst/>
          </a:prstGeom>
        </p:spPr>
      </p:pic>
      <p:pic>
        <p:nvPicPr>
          <p:cNvPr id="3" name="Voile" descr="/tmp/claude-0/-home-user-nis-strategy-app/db6ab8e4-23bb-5d3f-99bf-54d3938fe311/scratchpad/pptx_build/assets/shade-full.png">    </p:cNvPr>
          <p:cNvPicPr>
            <a:picLocks noChangeAspect="1"/>
          </p:cNvPicPr>
          <p:nvPr/>
        </p:nvPicPr>
        <p:blipFill>
          <a:blip r:embed="rId2"/>
          <a:stretch>
            <a:fillRect/>
          </a:stretch>
        </p:blipFill>
        <p:spPr>
          <a:xfrm>
            <a:off x="0" y="0"/>
            <a:ext cx="12191695" cy="6858000"/>
          </a:xfrm>
          <a:prstGeom prst="rect">
            <a:avLst/>
          </a:prstGeom>
        </p:spPr>
      </p:pic>
      <p:sp>
        <p:nvSpPr>
          <p:cNvPr id="4" name="Text 0"/>
          <p:cNvSpPr/>
          <p:nvPr>
            <p:ph idx="100" type="body" hasCustomPrompt="1"/>
          </p:nvPr>
        </p:nvSpPr>
        <p:spPr>
          <a:xfrm>
            <a:off x="812902" y="713232"/>
            <a:ext cx="10565892"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LA PROPOSITION</a:t>
            </a:r>
            <a:endParaRPr lang="en-US" sz="1100" dirty="0"/>
          </a:p>
        </p:txBody>
      </p:sp>
      <p:sp>
        <p:nvSpPr>
          <p:cNvPr id="5" name="Text 0"/>
          <p:cNvSpPr/>
          <p:nvPr>
            <p:ph idx="101" type="title" hasCustomPrompt="1"/>
          </p:nvPr>
        </p:nvSpPr>
        <p:spPr>
          <a:xfrm>
            <a:off x="812902" y="1042416"/>
            <a:ext cx="10565892" cy="914400"/>
          </a:xfrm>
          <a:prstGeom prst="rect">
            <a:avLst/>
          </a:prstGeom>
          <a:noFill/>
          <a:ln/>
        </p:spPr>
        <p:txBody>
          <a:bodyPr wrap="square" lIns="0" tIns="0" rIns="0" bIns="0" rtlCol="0" anchor="t"/>
          <a:lstStyle/>
          <a:p>
            <a:pPr algn="l" indent="0" marL="0">
              <a:buNone/>
            </a:pPr>
            <a:r>
              <a:rPr lang="en-US" sz="3000" dirty="0">
                <a:solidFill>
                  <a:schemeClr val="bg1"/>
                </a:solidFill>
                <a:latin typeface="Georgia" pitchFamily="34" charset="0"/>
                <a:ea typeface="Georgia" pitchFamily="34" charset="-122"/>
                <a:cs typeface="Georgia" pitchFamily="34" charset="-120"/>
              </a:rPr>
              <a:t>Trois points d'ancrage, trois fonctions</a:t>
            </a:r>
            <a:endParaRPr lang="en-US" sz="3000" dirty="0"/>
          </a:p>
        </p:txBody>
      </p:sp>
      <p:sp>
        <p:nvSpPr>
          <p:cNvPr id="6" name="Sous-titre"/>
          <p:cNvSpPr txBox="1"/>
          <p:nvPr/>
        </p:nvSpPr>
        <p:spPr>
          <a:xfrm>
            <a:off x="812902" y="1755648"/>
            <a:ext cx="10565892" cy="36576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L'introduction dans le corps du texte, le document complet en annexe.</a:t>
            </a:r>
            <a:endParaRPr lang="en-US" sz="1600" dirty="0"/>
          </a:p>
        </p:txBody>
      </p:sp>
      <p:sp>
        <p:nvSpPr>
          <p:cNvPr id="7" name="Carte Relier"/>
          <p:cNvSpPr/>
          <p:nvPr/>
        </p:nvSpPr>
        <p:spPr>
          <a:xfrm>
            <a:off x="812902" y="3246120"/>
            <a:ext cx="3150108" cy="2697480"/>
          </a:xfrm>
          <a:prstGeom prst="roundRect">
            <a:avLst>
              <a:gd name="adj" fmla="val 4746"/>
            </a:avLst>
          </a:prstGeom>
          <a:solidFill>
            <a:schemeClr val="tx1">
              <a:alpha val="90000"/>
            </a:schemeClr>
          </a:solidFill>
          <a:ln w="9525">
            <a:solidFill>
              <a:schemeClr val="accent3"/>
            </a:solidFill>
            <a:prstDash val="solid"/>
          </a:ln>
          <a:effectLst>
            <a:outerShdw sx="100000" sy="100000" kx="0" ky="0" algn="bl" rotWithShape="0" blurRad="228600" dist="76200" dir="5400000">
              <a:srgbClr val="000000">
                <a:alpha val="45000"/>
              </a:srgbClr>
            </a:outerShdw>
          </a:effectLst>
        </p:spPr>
      </p:sp>
      <p:sp>
        <p:nvSpPr>
          <p:cNvPr id="8" name="Texte Relier"/>
          <p:cNvSpPr txBox="1"/>
          <p:nvPr/>
        </p:nvSpPr>
        <p:spPr>
          <a:xfrm>
            <a:off x="1087222" y="3502152"/>
            <a:ext cx="2601468" cy="224028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CHAPITRE 6</a:t>
            </a:r>
            <a:endParaRPr lang="en-US" sz="1000" dirty="0"/>
          </a:p>
          <a:p>
            <a:pPr indent="0" marL="0">
              <a:spcBef>
                <a:spcPts val="600"/>
              </a:spcBef>
              <a:buNone/>
            </a:pPr>
            <a:r>
              <a:rPr lang="en-US" sz="2400" b="1" dirty="0">
                <a:solidFill>
                  <a:schemeClr val="bg1"/>
                </a:solidFill>
                <a:latin typeface="Georgia" pitchFamily="34" charset="0"/>
                <a:ea typeface="Georgia" pitchFamily="34" charset="-122"/>
                <a:cs typeface="Georgia" pitchFamily="34" charset="-120"/>
              </a:rPr>
              <a:t>Relier</a:t>
            </a:r>
            <a:endParaRPr lang="en-US" sz="1000" dirty="0"/>
          </a:p>
          <a:p>
            <a:pPr indent="0" marL="0">
              <a:spcBef>
                <a:spcPts val="400"/>
              </a:spcBef>
              <a:buNone/>
            </a:pPr>
            <a:r>
              <a:rPr lang="en-US" sz="1500" b="1" u="sng" dirty="0">
                <a:solidFill>
                  <a:schemeClr val="accent1"/>
                </a:solidFill>
                <a:latin typeface="Calibri" pitchFamily="34" charset="0"/>
                <a:ea typeface="Calibri" pitchFamily="34" charset="-122"/>
                <a:cs typeface="Calibri" pitchFamily="34" charset="-120"/>
                <a:hlinkClick r:id="rId3" action="ppaction://hlinksldjump" tooltip="Voir le détail">
                  <a:extLst>
                    <a:ext uri="{A12FA001-AC4F-418D-AE19-62706E023703}">
                      <ahyp:hlinkClr xmlns:ahyp="http://schemas.microsoft.com/office/drawing/2018/hyperlinkcolor" val="tx"/>
                    </a:ext>
                  </a:extLst>
                </a:hlinkClick>
              </a:rPr>
              <a:t>Objectif 1.5</a:t>
            </a:r>
            <a:endParaRPr lang="en-US" sz="1000" dirty="0"/>
          </a:p>
          <a:p>
            <a:pPr indent="0" marL="0">
              <a:spcBef>
                <a:spcPts val="600"/>
              </a:spcBef>
              <a:buNone/>
            </a:pPr>
            <a:r>
              <a:rPr lang="en-US" sz="1400" dirty="0">
                <a:solidFill>
                  <a:schemeClr val="bg2"/>
                </a:solidFill>
                <a:latin typeface="Calibri" pitchFamily="34" charset="0"/>
                <a:ea typeface="Calibri" pitchFamily="34" charset="-122"/>
                <a:cs typeface="Calibri" pitchFamily="34" charset="-120"/>
              </a:rPr>
              <a:t>Une phrase de renvoi vers la section 8.5 et l'annexe 7.</a:t>
            </a:r>
            <a:endParaRPr lang="en-US" sz="1000" dirty="0"/>
          </a:p>
        </p:txBody>
      </p:sp>
      <p:sp>
        <p:nvSpPr>
          <p:cNvPr id="9" name="Flèche 1"/>
          <p:cNvSpPr/>
          <p:nvPr/>
        </p:nvSpPr>
        <p:spPr>
          <a:xfrm>
            <a:off x="4081882" y="4457700"/>
            <a:ext cx="320040" cy="274320"/>
          </a:xfrm>
          <a:prstGeom prst="rightArrow">
            <a:avLst/>
          </a:prstGeom>
          <a:solidFill>
            <a:schemeClr val="accent1"/>
          </a:solidFill>
          <a:ln/>
        </p:spPr>
      </p:sp>
      <p:sp>
        <p:nvSpPr>
          <p:cNvPr id="10" name="Carte Introduire"/>
          <p:cNvSpPr/>
          <p:nvPr/>
        </p:nvSpPr>
        <p:spPr>
          <a:xfrm>
            <a:off x="4520794" y="3246120"/>
            <a:ext cx="3150108" cy="2697480"/>
          </a:xfrm>
          <a:prstGeom prst="roundRect">
            <a:avLst>
              <a:gd name="adj" fmla="val 4746"/>
            </a:avLst>
          </a:prstGeom>
          <a:solidFill>
            <a:schemeClr val="accent1"/>
          </a:solidFill>
          <a:ln/>
          <a:effectLst>
            <a:outerShdw sx="100000" sy="100000" kx="0" ky="0" algn="bl" rotWithShape="0" blurRad="228600" dist="76200" dir="5400000">
              <a:srgbClr val="000000">
                <a:alpha val="45000"/>
              </a:srgbClr>
            </a:outerShdw>
          </a:effectLst>
        </p:spPr>
      </p:sp>
      <p:sp>
        <p:nvSpPr>
          <p:cNvPr id="11" name="Texte Introduire"/>
          <p:cNvSpPr txBox="1"/>
          <p:nvPr/>
        </p:nvSpPr>
        <p:spPr>
          <a:xfrm>
            <a:off x="4795114" y="3502152"/>
            <a:ext cx="2601468" cy="2240280"/>
          </a:xfrm>
          <a:prstGeom prst="rect">
            <a:avLst/>
          </a:prstGeom>
          <a:noFill/>
          <a:ln/>
        </p:spPr>
        <p:txBody>
          <a:bodyPr wrap="square" lIns="0" tIns="0" rIns="0" bIns="0" rtlCol="0" anchor="t"/>
          <a:lstStyle/>
          <a:p>
            <a:pPr indent="0" marL="0">
              <a:buNone/>
            </a:pPr>
            <a:r>
              <a:rPr lang="en-US" sz="1000" b="1" spc="200" kern="0" dirty="0">
                <a:solidFill>
                  <a:schemeClr val="tx1"/>
                </a:solidFill>
                <a:latin typeface="Calibri" pitchFamily="34" charset="0"/>
                <a:ea typeface="Calibri" pitchFamily="34" charset="-122"/>
                <a:cs typeface="Calibri" pitchFamily="34" charset="-120"/>
              </a:rPr>
              <a:t>CHAPITRE 8 · ANCRAGE PRINCIPAL</a:t>
            </a:r>
            <a:endParaRPr lang="en-US" sz="1000" dirty="0"/>
          </a:p>
          <a:p>
            <a:pPr indent="0" marL="0">
              <a:spcBef>
                <a:spcPts val="600"/>
              </a:spcBef>
              <a:buNone/>
            </a:pPr>
            <a:r>
              <a:rPr lang="en-US" sz="2400" b="1" dirty="0">
                <a:solidFill>
                  <a:schemeClr val="tx1"/>
                </a:solidFill>
                <a:latin typeface="Georgia" pitchFamily="34" charset="0"/>
                <a:ea typeface="Georgia" pitchFamily="34" charset="-122"/>
                <a:cs typeface="Georgia" pitchFamily="34" charset="-120"/>
              </a:rPr>
              <a:t>Introduire</a:t>
            </a:r>
            <a:endParaRPr lang="en-US" sz="1000" dirty="0"/>
          </a:p>
          <a:p>
            <a:pPr indent="0" marL="0">
              <a:spcBef>
                <a:spcPts val="400"/>
              </a:spcBef>
              <a:buNone/>
            </a:pPr>
            <a:r>
              <a:rPr lang="en-US" sz="1500" b="1" u="sng" dirty="0">
                <a:solidFill>
                  <a:schemeClr val="tx1"/>
                </a:solidFill>
                <a:latin typeface="Calibri" pitchFamily="34" charset="0"/>
                <a:ea typeface="Calibri" pitchFamily="34" charset="-122"/>
                <a:cs typeface="Calibri" pitchFamily="34" charset="-120"/>
                <a:hlinkClick r:id="rId4" action="ppaction://hlinksldjump" tooltip="Voir le détail">
                  <a:extLst>
                    <a:ext uri="{A12FA001-AC4F-418D-AE19-62706E023703}">
                      <ahyp:hlinkClr xmlns:ahyp="http://schemas.microsoft.com/office/drawing/2018/hyperlinkcolor" val="tx"/>
                    </a:ext>
                  </a:extLst>
                </a:hlinkClick>
              </a:rPr>
              <a:t>Section 8.5</a:t>
            </a:r>
            <a:endParaRPr lang="en-US" sz="1000" dirty="0"/>
          </a:p>
          <a:p>
            <a:pPr indent="0" marL="0">
              <a:spcBef>
                <a:spcPts val="600"/>
              </a:spcBef>
              <a:buNone/>
            </a:pPr>
            <a:r>
              <a:rPr lang="en-US" sz="1400" dirty="0">
                <a:solidFill>
                  <a:schemeClr val="tx1"/>
                </a:solidFill>
                <a:latin typeface="Calibri" pitchFamily="34" charset="0"/>
                <a:ea typeface="Calibri" pitchFamily="34" charset="-122"/>
                <a:cs typeface="Calibri" pitchFamily="34" charset="-120"/>
              </a:rPr>
              <a:t>Une section introductive d'une page : objectifs, principes, trois cercles, trajectoire.</a:t>
            </a:r>
            <a:endParaRPr lang="en-US" sz="1000" dirty="0"/>
          </a:p>
        </p:txBody>
      </p:sp>
      <p:sp>
        <p:nvSpPr>
          <p:cNvPr id="12" name="Flèche 2"/>
          <p:cNvSpPr/>
          <p:nvPr/>
        </p:nvSpPr>
        <p:spPr>
          <a:xfrm>
            <a:off x="7789774" y="4457700"/>
            <a:ext cx="320040" cy="274320"/>
          </a:xfrm>
          <a:prstGeom prst="rightArrow">
            <a:avLst/>
          </a:prstGeom>
          <a:solidFill>
            <a:schemeClr val="accent1"/>
          </a:solidFill>
          <a:ln/>
        </p:spPr>
      </p:sp>
      <p:sp>
        <p:nvSpPr>
          <p:cNvPr id="13" name="Carte Détailler"/>
          <p:cNvSpPr/>
          <p:nvPr/>
        </p:nvSpPr>
        <p:spPr>
          <a:xfrm>
            <a:off x="8228686" y="3246120"/>
            <a:ext cx="3150108" cy="2697480"/>
          </a:xfrm>
          <a:prstGeom prst="roundRect">
            <a:avLst>
              <a:gd name="adj" fmla="val 4746"/>
            </a:avLst>
          </a:prstGeom>
          <a:solidFill>
            <a:schemeClr val="tx1">
              <a:alpha val="90000"/>
            </a:schemeClr>
          </a:solidFill>
          <a:ln w="9525">
            <a:solidFill>
              <a:schemeClr val="accent3"/>
            </a:solidFill>
            <a:prstDash val="solid"/>
          </a:ln>
          <a:effectLst>
            <a:outerShdw sx="100000" sy="100000" kx="0" ky="0" algn="bl" rotWithShape="0" blurRad="228600" dist="76200" dir="5400000">
              <a:srgbClr val="000000">
                <a:alpha val="45000"/>
              </a:srgbClr>
            </a:outerShdw>
          </a:effectLst>
        </p:spPr>
      </p:sp>
      <p:sp>
        <p:nvSpPr>
          <p:cNvPr id="14" name="Texte Détailler"/>
          <p:cNvSpPr txBox="1"/>
          <p:nvPr/>
        </p:nvSpPr>
        <p:spPr>
          <a:xfrm>
            <a:off x="8503006" y="3502152"/>
            <a:ext cx="2601468" cy="224028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CHAPITRE 10</a:t>
            </a:r>
            <a:endParaRPr lang="en-US" sz="1000" dirty="0"/>
          </a:p>
          <a:p>
            <a:pPr indent="0" marL="0">
              <a:spcBef>
                <a:spcPts val="600"/>
              </a:spcBef>
              <a:buNone/>
            </a:pPr>
            <a:r>
              <a:rPr lang="en-US" sz="2400" b="1" dirty="0">
                <a:solidFill>
                  <a:schemeClr val="bg1"/>
                </a:solidFill>
                <a:latin typeface="Georgia" pitchFamily="34" charset="0"/>
                <a:ea typeface="Georgia" pitchFamily="34" charset="-122"/>
                <a:cs typeface="Georgia" pitchFamily="34" charset="-120"/>
              </a:rPr>
              <a:t>Détailler</a:t>
            </a:r>
            <a:endParaRPr lang="en-US" sz="1000" dirty="0"/>
          </a:p>
          <a:p>
            <a:pPr indent="0" marL="0">
              <a:spcBef>
                <a:spcPts val="400"/>
              </a:spcBef>
              <a:buNone/>
            </a:pPr>
            <a:r>
              <a:rPr lang="en-US" sz="1500" b="1" u="sng" dirty="0">
                <a:solidFill>
                  <a:schemeClr val="accent1"/>
                </a:solidFill>
                <a:latin typeface="Calibri" pitchFamily="34" charset="0"/>
                <a:ea typeface="Calibri" pitchFamily="34" charset="-122"/>
                <a:cs typeface="Calibri" pitchFamily="34" charset="-120"/>
                <a:hlinkClick r:id="rId5" action="ppaction://hlinksldjump" tooltip="Voir le détail">
                  <a:extLst>
                    <a:ext uri="{A12FA001-AC4F-418D-AE19-62706E023703}">
                      <ahyp:hlinkClr xmlns:ahyp="http://schemas.microsoft.com/office/drawing/2018/hyperlinkcolor" val="tx"/>
                    </a:ext>
                  </a:extLst>
                </a:hlinkClick>
              </a:rPr>
              <a:t>Annexe 7</a:t>
            </a:r>
            <a:endParaRPr lang="en-US" sz="1000" dirty="0"/>
          </a:p>
          <a:p>
            <a:pPr indent="0" marL="0">
              <a:spcBef>
                <a:spcPts val="600"/>
              </a:spcBef>
              <a:buNone/>
            </a:pPr>
            <a:r>
              <a:rPr lang="en-US" sz="1400" dirty="0">
                <a:solidFill>
                  <a:schemeClr val="bg2"/>
                </a:solidFill>
                <a:latin typeface="Calibri" pitchFamily="34" charset="0"/>
                <a:ea typeface="Calibri" pitchFamily="34" charset="-122"/>
                <a:cs typeface="Calibri" pitchFamily="34" charset="-120"/>
              </a:rPr>
              <a:t>La feuille de route intégrale, document distinct accessible par lien.</a:t>
            </a:r>
            <a:endParaRPr lang="en-US" sz="1000" dirty="0"/>
          </a:p>
        </p:txBody>
      </p:sp>
      <p:sp>
        <p:nvSpPr>
          <p:cNvPr id="16" name="Text 0"/>
          <p:cNvSpPr/>
          <p:nvPr>
            <p:ph idx="102" type="body" hasCustomPrompt="1"/>
          </p:nvPr>
        </p:nvSpPr>
        <p:spPr>
          <a:xfrm>
            <a:off x="812902" y="6327648"/>
            <a:ext cx="9834372" cy="274320"/>
          </a:xfrm>
          <a:prstGeom prst="rect">
            <a:avLst/>
          </a:prstGeom>
          <a:noFill/>
          <a:ln/>
        </p:spPr>
        <p:txBody>
          <a:bodyPr wrap="square" lIns="0" tIns="0" rIns="0" bIns="0" rtlCol="0" anchor="t"/>
          <a:lstStyle/>
          <a:p>
            <a:pPr indent="0" marL="0">
              <a:buNone/>
            </a:pPr>
            <a:endParaRPr lang="en-US" sz="10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Photo atelier" descr="Des cadres de santé travaillent en atelier autour d'une table">    </p:cNvPr>
          <p:cNvPicPr>
            <a:picLocks noChangeAspect="1"/>
          </p:cNvPicPr>
          <p:nvPr/>
        </p:nvPicPr>
        <p:blipFill>
          <a:blip r:embed="rId1"/>
          <a:srcRect l="31250" r="31250" t="0" b="0"/>
          <a:stretch/>
        </p:blipFill>
        <p:spPr>
          <a:xfrm>
            <a:off x="7619695" y="0"/>
            <a:ext cx="4572000" cy="6858000"/>
          </a:xfrm>
          <a:prstGeom prst="rect">
            <a:avLst/>
          </a:prstGeom>
        </p:spPr>
      </p:pic>
      <p:sp>
        <p:nvSpPr>
          <p:cNvPr id="3" name="Text 0"/>
          <p:cNvSpPr/>
          <p:nvPr>
            <p:ph idx="100" type="body" hasCustomPrompt="1"/>
          </p:nvPr>
        </p:nvSpPr>
        <p:spPr>
          <a:xfrm>
            <a:off x="812902" y="713232"/>
            <a:ext cx="6309360"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ANCRAGE PRINCIPAL · CHAPITRE 8</a:t>
            </a:r>
            <a:endParaRPr lang="en-US" sz="1100" dirty="0"/>
          </a:p>
        </p:txBody>
      </p:sp>
      <p:sp>
        <p:nvSpPr>
          <p:cNvPr id="4" name="Text 0"/>
          <p:cNvSpPr/>
          <p:nvPr>
            <p:ph idx="101" type="title" hasCustomPrompt="1"/>
          </p:nvPr>
        </p:nvSpPr>
        <p:spPr>
          <a:xfrm>
            <a:off x="812902" y="1042416"/>
            <a:ext cx="6309360" cy="914400"/>
          </a:xfrm>
          <a:prstGeom prst="rect">
            <a:avLst/>
          </a:prstGeom>
          <a:noFill/>
          <a:ln/>
        </p:spPr>
        <p:txBody>
          <a:bodyPr wrap="square" lIns="0" tIns="0" rIns="0" bIns="0" rtlCol="0" anchor="t"/>
          <a:lstStyle/>
          <a:p>
            <a:pPr algn="l" indent="0" marL="0">
              <a:buNone/>
            </a:pPr>
            <a:r>
              <a:rPr lang="en-US" sz="3000" dirty="0">
                <a:solidFill>
                  <a:schemeClr val="bg1"/>
                </a:solidFill>
                <a:latin typeface="Georgia" pitchFamily="34" charset="0"/>
                <a:ea typeface="Georgia" pitchFamily="34" charset="-122"/>
                <a:cs typeface="Georgia" pitchFamily="34" charset="-120"/>
              </a:rPr>
              <a:t>Section 8.5 : la porte d'entrée de la feuille de route</a:t>
            </a:r>
            <a:endParaRPr lang="en-US" sz="3000" dirty="0"/>
          </a:p>
        </p:txBody>
      </p:sp>
      <p:sp>
        <p:nvSpPr>
          <p:cNvPr id="5" name="Text 0"/>
          <p:cNvSpPr/>
          <p:nvPr>
            <p:ph idx="102" type="body" hasCustomPrompt="1"/>
          </p:nvPr>
        </p:nvSpPr>
        <p:spPr>
          <a:xfrm>
            <a:off x="812902" y="6327648"/>
            <a:ext cx="9834372" cy="27432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Source : SNV draft 3.8, section 8.5 (texte actuel)</a:t>
            </a:r>
            <a:endParaRPr lang="en-US" sz="1000" dirty="0"/>
          </a:p>
        </p:txBody>
      </p:sp>
      <p:sp>
        <p:nvSpPr>
          <p:cNvPr id="6" name="Page du document"/>
          <p:cNvSpPr/>
          <p:nvPr/>
        </p:nvSpPr>
        <p:spPr>
          <a:xfrm>
            <a:off x="812902" y="2103120"/>
            <a:ext cx="6345936" cy="3977640"/>
          </a:xfrm>
          <a:prstGeom prst="roundRect">
            <a:avLst>
              <a:gd name="adj" fmla="val 2299"/>
            </a:avLst>
          </a:prstGeom>
          <a:solidFill>
            <a:schemeClr val="bg1"/>
          </a:solidFill>
          <a:ln/>
          <a:effectLst>
            <a:outerShdw sx="100000" sy="100000" kx="0" ky="0" algn="bl" rotWithShape="0" blurRad="279400" dist="101600" dir="5400000">
              <a:srgbClr val="000000">
                <a:alpha val="50000"/>
              </a:srgbClr>
            </a:outerShdw>
          </a:effectLst>
        </p:spPr>
      </p:sp>
      <p:sp>
        <p:nvSpPr>
          <p:cNvPr id="7" name="Repère document"/>
          <p:cNvSpPr txBox="1"/>
          <p:nvPr/>
        </p:nvSpPr>
        <p:spPr>
          <a:xfrm>
            <a:off x="1087222" y="2304288"/>
            <a:ext cx="5760720" cy="228600"/>
          </a:xfrm>
          <a:prstGeom prst="rect">
            <a:avLst/>
          </a:prstGeom>
          <a:noFill/>
          <a:ln/>
        </p:spPr>
        <p:txBody>
          <a:bodyPr wrap="square" lIns="0" tIns="0" rIns="0" bIns="0" rtlCol="0" anchor="t"/>
          <a:lstStyle/>
          <a:p>
            <a:pPr indent="0" marL="0">
              <a:buNone/>
            </a:pPr>
            <a:r>
              <a:rPr lang="en-US" sz="900" b="1" spc="200" kern="0" dirty="0">
                <a:solidFill>
                  <a:schemeClr val="accent6"/>
                </a:solidFill>
                <a:latin typeface="Calibri" pitchFamily="34" charset="0"/>
                <a:ea typeface="Calibri" pitchFamily="34" charset="-122"/>
                <a:cs typeface="Calibri" pitchFamily="34" charset="-120"/>
              </a:rPr>
              <a:t>SNV 2027-2030 · CHIFFRAGE ET FINANCEMENT · STRUCTURE PROPOSÉE</a:t>
            </a:r>
            <a:endParaRPr lang="en-US" sz="900" dirty="0"/>
          </a:p>
        </p:txBody>
      </p:sp>
      <p:sp>
        <p:nvSpPr>
          <p:cNvPr id="8" name="Titre 8.5"/>
          <p:cNvSpPr txBox="1"/>
          <p:nvPr/>
        </p:nvSpPr>
        <p:spPr>
          <a:xfrm>
            <a:off x="1087222" y="2606040"/>
            <a:ext cx="5760720" cy="685800"/>
          </a:xfrm>
          <a:prstGeom prst="rect">
            <a:avLst/>
          </a:prstGeom>
          <a:noFill/>
          <a:ln/>
        </p:spPr>
        <p:txBody>
          <a:bodyPr wrap="square" lIns="0" tIns="0" rIns="0" bIns="0" rtlCol="0" anchor="t"/>
          <a:lstStyle/>
          <a:p>
            <a:pPr indent="0" marL="0">
              <a:buNone/>
            </a:pPr>
            <a:r>
              <a:rPr lang="en-US" sz="1800" b="1" dirty="0">
                <a:solidFill>
                  <a:schemeClr val="tx1"/>
                </a:solidFill>
                <a:latin typeface="Georgia" pitchFamily="34" charset="0"/>
                <a:ea typeface="Georgia" pitchFamily="34" charset="-122"/>
                <a:cs typeface="Georgia" pitchFamily="34" charset="-120"/>
              </a:rPr>
              <a:t>8.5 Pérennité financière et feuille de route de la transition Gavi</a:t>
            </a:r>
            <a:endParaRPr lang="en-US" sz="1800" dirty="0"/>
          </a:p>
        </p:txBody>
      </p:sp>
      <p:sp>
        <p:nvSpPr>
          <p:cNvPr id="9" name="Séparateur 1"/>
          <p:cNvSpPr/>
          <p:nvPr/>
        </p:nvSpPr>
        <p:spPr>
          <a:xfrm>
            <a:off x="1087222" y="3346704"/>
            <a:ext cx="5797296" cy="0"/>
          </a:xfrm>
          <a:prstGeom prst="line">
            <a:avLst/>
          </a:prstGeom>
          <a:noFill/>
          <a:ln w="9525">
            <a:solidFill>
              <a:srgbClr val="DCCFB4"/>
            </a:solidFill>
            <a:prstDash val="solid"/>
          </a:ln>
        </p:spPr>
      </p:sp>
      <p:sp>
        <p:nvSpPr>
          <p:cNvPr id="10" name="Statut 1"/>
          <p:cNvSpPr/>
          <p:nvPr/>
        </p:nvSpPr>
        <p:spPr>
          <a:xfrm>
            <a:off x="1178662" y="3474720"/>
            <a:ext cx="868680" cy="256032"/>
          </a:xfrm>
          <a:prstGeom prst="roundRect">
            <a:avLst>
              <a:gd name="adj" fmla="val 46429"/>
            </a:avLst>
          </a:prstGeom>
          <a:solidFill>
            <a:srgbClr val="E6DCC6"/>
          </a:solidFill>
          <a:ln/>
        </p:spPr>
        <p:txBody>
          <a:bodyPr wrap="square" lIns="0" tIns="0" rIns="0" bIns="0" rtlCol="0" anchor="ctr"/>
          <a:lstStyle/>
          <a:p>
            <a:pPr algn="ctr" indent="0" marL="0">
              <a:buNone/>
            </a:pPr>
            <a:r>
              <a:rPr lang="en-US" sz="1000" b="1" dirty="0">
                <a:solidFill>
                  <a:srgbClr val="3B352C"/>
                </a:solidFill>
                <a:latin typeface="Calibri" pitchFamily="34" charset="0"/>
                <a:ea typeface="Calibri" pitchFamily="34" charset="-122"/>
                <a:cs typeface="Calibri" pitchFamily="34" charset="-120"/>
              </a:rPr>
              <a:t>Existant</a:t>
            </a:r>
            <a:endParaRPr lang="en-US" sz="1000" dirty="0"/>
          </a:p>
        </p:txBody>
      </p:sp>
      <p:sp>
        <p:nvSpPr>
          <p:cNvPr id="11" name="Rubrique 1"/>
          <p:cNvSpPr txBox="1"/>
          <p:nvPr/>
        </p:nvSpPr>
        <p:spPr>
          <a:xfrm>
            <a:off x="2230222" y="3456432"/>
            <a:ext cx="4572000" cy="310896"/>
          </a:xfrm>
          <a:prstGeom prst="rect">
            <a:avLst/>
          </a:prstGeom>
          <a:noFill/>
          <a:ln/>
        </p:spPr>
        <p:txBody>
          <a:bodyPr wrap="square" lIns="0" tIns="0" rIns="0" bIns="0" rtlCol="0" anchor="ctr"/>
          <a:lstStyle/>
          <a:p>
            <a:pPr indent="0" marL="0">
              <a:buNone/>
            </a:pPr>
            <a:r>
              <a:rPr lang="en-US" sz="1500" dirty="0">
                <a:solidFill>
                  <a:srgbClr val="3B352C"/>
                </a:solidFill>
                <a:latin typeface="Calibri" pitchFamily="34" charset="0"/>
                <a:ea typeface="Calibri" pitchFamily="34" charset="-122"/>
                <a:cs typeface="Calibri" pitchFamily="34" charset="-120"/>
              </a:rPr>
              <a:t>Soutenabilité de la charge en 2030</a:t>
            </a:r>
            <a:endParaRPr lang="en-US" sz="1500" dirty="0"/>
          </a:p>
        </p:txBody>
      </p:sp>
      <p:sp>
        <p:nvSpPr>
          <p:cNvPr id="12" name="Séparateur 2"/>
          <p:cNvSpPr/>
          <p:nvPr/>
        </p:nvSpPr>
        <p:spPr>
          <a:xfrm>
            <a:off x="1087222" y="3858768"/>
            <a:ext cx="5797296" cy="0"/>
          </a:xfrm>
          <a:prstGeom prst="line">
            <a:avLst/>
          </a:prstGeom>
          <a:noFill/>
          <a:ln w="9525">
            <a:solidFill>
              <a:srgbClr val="DCCFB4"/>
            </a:solidFill>
            <a:prstDash val="solid"/>
          </a:ln>
        </p:spPr>
      </p:sp>
      <p:sp>
        <p:nvSpPr>
          <p:cNvPr id="13" name="Statut 2"/>
          <p:cNvSpPr/>
          <p:nvPr/>
        </p:nvSpPr>
        <p:spPr>
          <a:xfrm>
            <a:off x="1178662" y="3986784"/>
            <a:ext cx="868680" cy="256032"/>
          </a:xfrm>
          <a:prstGeom prst="roundRect">
            <a:avLst>
              <a:gd name="adj" fmla="val 46429"/>
            </a:avLst>
          </a:prstGeom>
          <a:solidFill>
            <a:srgbClr val="E6DCC6"/>
          </a:solidFill>
          <a:ln/>
        </p:spPr>
        <p:txBody>
          <a:bodyPr wrap="square" lIns="0" tIns="0" rIns="0" bIns="0" rtlCol="0" anchor="ctr"/>
          <a:lstStyle/>
          <a:p>
            <a:pPr algn="ctr" indent="0" marL="0">
              <a:buNone/>
            </a:pPr>
            <a:r>
              <a:rPr lang="en-US" sz="1000" b="1" dirty="0">
                <a:solidFill>
                  <a:srgbClr val="3B352C"/>
                </a:solidFill>
                <a:latin typeface="Calibri" pitchFamily="34" charset="0"/>
                <a:ea typeface="Calibri" pitchFamily="34" charset="-122"/>
                <a:cs typeface="Calibri" pitchFamily="34" charset="-120"/>
              </a:rPr>
              <a:t>Existant</a:t>
            </a:r>
            <a:endParaRPr lang="en-US" sz="1000" dirty="0"/>
          </a:p>
        </p:txBody>
      </p:sp>
      <p:sp>
        <p:nvSpPr>
          <p:cNvPr id="14" name="Rubrique 2"/>
          <p:cNvSpPr txBox="1"/>
          <p:nvPr/>
        </p:nvSpPr>
        <p:spPr>
          <a:xfrm>
            <a:off x="2230222" y="3968496"/>
            <a:ext cx="4572000" cy="310896"/>
          </a:xfrm>
          <a:prstGeom prst="rect">
            <a:avLst/>
          </a:prstGeom>
          <a:noFill/>
          <a:ln/>
        </p:spPr>
        <p:txBody>
          <a:bodyPr wrap="square" lIns="0" tIns="0" rIns="0" bIns="0" rtlCol="0" anchor="ctr"/>
          <a:lstStyle/>
          <a:p>
            <a:pPr indent="0" marL="0">
              <a:buNone/>
            </a:pPr>
            <a:r>
              <a:rPr lang="en-US" sz="1500" dirty="0">
                <a:solidFill>
                  <a:srgbClr val="3B352C"/>
                </a:solidFill>
                <a:latin typeface="Calibri" pitchFamily="34" charset="0"/>
                <a:ea typeface="Calibri" pitchFamily="34" charset="-122"/>
                <a:cs typeface="Calibri" pitchFamily="34" charset="-120"/>
              </a:rPr>
              <a:t>Quatre conditions de pérennité</a:t>
            </a:r>
            <a:endParaRPr lang="en-US" sz="1500" dirty="0"/>
          </a:p>
        </p:txBody>
      </p:sp>
      <p:sp>
        <p:nvSpPr>
          <p:cNvPr id="15" name="Séparateur 3"/>
          <p:cNvSpPr/>
          <p:nvPr/>
        </p:nvSpPr>
        <p:spPr>
          <a:xfrm>
            <a:off x="1087222" y="4370832"/>
            <a:ext cx="5797296" cy="0"/>
          </a:xfrm>
          <a:prstGeom prst="line">
            <a:avLst/>
          </a:prstGeom>
          <a:noFill/>
          <a:ln w="9525">
            <a:solidFill>
              <a:srgbClr val="DCCFB4"/>
            </a:solidFill>
            <a:prstDash val="solid"/>
          </a:ln>
        </p:spPr>
      </p:sp>
      <p:sp>
        <p:nvSpPr>
          <p:cNvPr id="16" name="Surlignage 3"/>
          <p:cNvSpPr/>
          <p:nvPr/>
        </p:nvSpPr>
        <p:spPr>
          <a:xfrm>
            <a:off x="1087222" y="4407408"/>
            <a:ext cx="5797296" cy="438912"/>
          </a:xfrm>
          <a:prstGeom prst="rect">
            <a:avLst/>
          </a:prstGeom>
          <a:solidFill>
            <a:schemeClr val="accent1">
              <a:alpha val="25000"/>
            </a:schemeClr>
          </a:solidFill>
          <a:ln/>
        </p:spPr>
      </p:sp>
      <p:sp>
        <p:nvSpPr>
          <p:cNvPr id="17" name="Statut 3"/>
          <p:cNvSpPr/>
          <p:nvPr/>
        </p:nvSpPr>
        <p:spPr>
          <a:xfrm>
            <a:off x="1178662" y="4498848"/>
            <a:ext cx="868680" cy="256032"/>
          </a:xfrm>
          <a:prstGeom prst="roundRect">
            <a:avLst>
              <a:gd name="adj" fmla="val 46429"/>
            </a:avLst>
          </a:prstGeom>
          <a:solidFill>
            <a:schemeClr val="accent1"/>
          </a:solid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Ajout</a:t>
            </a:r>
            <a:endParaRPr lang="en-US" sz="1000" dirty="0"/>
          </a:p>
        </p:txBody>
      </p:sp>
      <p:sp>
        <p:nvSpPr>
          <p:cNvPr id="18" name="Rubrique 3"/>
          <p:cNvSpPr txBox="1"/>
          <p:nvPr/>
        </p:nvSpPr>
        <p:spPr>
          <a:xfrm>
            <a:off x="2230222" y="4480560"/>
            <a:ext cx="4572000" cy="310896"/>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Objectifs et principes de la transition</a:t>
            </a:r>
            <a:endParaRPr lang="en-US" sz="1500" dirty="0"/>
          </a:p>
        </p:txBody>
      </p:sp>
      <p:sp>
        <p:nvSpPr>
          <p:cNvPr id="19" name="Séparateur 4"/>
          <p:cNvSpPr/>
          <p:nvPr/>
        </p:nvSpPr>
        <p:spPr>
          <a:xfrm>
            <a:off x="1087222" y="4882896"/>
            <a:ext cx="5797296" cy="0"/>
          </a:xfrm>
          <a:prstGeom prst="line">
            <a:avLst/>
          </a:prstGeom>
          <a:noFill/>
          <a:ln w="9525">
            <a:solidFill>
              <a:srgbClr val="DCCFB4"/>
            </a:solidFill>
            <a:prstDash val="solid"/>
          </a:ln>
        </p:spPr>
      </p:sp>
      <p:sp>
        <p:nvSpPr>
          <p:cNvPr id="20" name="Surlignage 4"/>
          <p:cNvSpPr/>
          <p:nvPr/>
        </p:nvSpPr>
        <p:spPr>
          <a:xfrm>
            <a:off x="1087222" y="4919472"/>
            <a:ext cx="5797296" cy="438912"/>
          </a:xfrm>
          <a:prstGeom prst="rect">
            <a:avLst/>
          </a:prstGeom>
          <a:solidFill>
            <a:schemeClr val="accent1">
              <a:alpha val="25000"/>
            </a:schemeClr>
          </a:solidFill>
          <a:ln/>
        </p:spPr>
      </p:sp>
      <p:sp>
        <p:nvSpPr>
          <p:cNvPr id="21" name="Statut 4"/>
          <p:cNvSpPr/>
          <p:nvPr/>
        </p:nvSpPr>
        <p:spPr>
          <a:xfrm>
            <a:off x="1178662" y="5010912"/>
            <a:ext cx="868680" cy="256032"/>
          </a:xfrm>
          <a:prstGeom prst="roundRect">
            <a:avLst>
              <a:gd name="adj" fmla="val 46429"/>
            </a:avLst>
          </a:prstGeom>
          <a:solidFill>
            <a:schemeClr val="accent1"/>
          </a:solid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Ajout</a:t>
            </a:r>
            <a:endParaRPr lang="en-US" sz="1000" dirty="0"/>
          </a:p>
        </p:txBody>
      </p:sp>
      <p:sp>
        <p:nvSpPr>
          <p:cNvPr id="22" name="Rubrique 4"/>
          <p:cNvSpPr txBox="1"/>
          <p:nvPr/>
        </p:nvSpPr>
        <p:spPr>
          <a:xfrm>
            <a:off x="2230222" y="4992624"/>
            <a:ext cx="4572000" cy="310896"/>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Périmètre : les trois cercles</a:t>
            </a:r>
            <a:endParaRPr lang="en-US" sz="1500" dirty="0"/>
          </a:p>
        </p:txBody>
      </p:sp>
      <p:sp>
        <p:nvSpPr>
          <p:cNvPr id="23" name="Séparateur 5"/>
          <p:cNvSpPr/>
          <p:nvPr/>
        </p:nvSpPr>
        <p:spPr>
          <a:xfrm>
            <a:off x="1087222" y="5394960"/>
            <a:ext cx="5797296" cy="0"/>
          </a:xfrm>
          <a:prstGeom prst="line">
            <a:avLst/>
          </a:prstGeom>
          <a:noFill/>
          <a:ln w="9525">
            <a:solidFill>
              <a:srgbClr val="DCCFB4"/>
            </a:solidFill>
            <a:prstDash val="solid"/>
          </a:ln>
        </p:spPr>
      </p:sp>
      <p:sp>
        <p:nvSpPr>
          <p:cNvPr id="24" name="Surlignage 5"/>
          <p:cNvSpPr/>
          <p:nvPr/>
        </p:nvSpPr>
        <p:spPr>
          <a:xfrm>
            <a:off x="1087222" y="5431536"/>
            <a:ext cx="5797296" cy="438912"/>
          </a:xfrm>
          <a:prstGeom prst="rect">
            <a:avLst/>
          </a:prstGeom>
          <a:solidFill>
            <a:schemeClr val="accent1">
              <a:alpha val="25000"/>
            </a:schemeClr>
          </a:solidFill>
          <a:ln/>
        </p:spPr>
      </p:sp>
      <p:sp>
        <p:nvSpPr>
          <p:cNvPr id="25" name="Statut 5"/>
          <p:cNvSpPr/>
          <p:nvPr/>
        </p:nvSpPr>
        <p:spPr>
          <a:xfrm>
            <a:off x="1178662" y="5522976"/>
            <a:ext cx="868680" cy="256032"/>
          </a:xfrm>
          <a:prstGeom prst="roundRect">
            <a:avLst>
              <a:gd name="adj" fmla="val 46429"/>
            </a:avLst>
          </a:prstGeom>
          <a:solidFill>
            <a:schemeClr val="accent1"/>
          </a:solid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Ajout</a:t>
            </a:r>
            <a:endParaRPr lang="en-US" sz="1000" dirty="0"/>
          </a:p>
        </p:txBody>
      </p:sp>
      <p:sp>
        <p:nvSpPr>
          <p:cNvPr id="26" name="Rubrique 5"/>
          <p:cNvSpPr txBox="1"/>
          <p:nvPr/>
        </p:nvSpPr>
        <p:spPr>
          <a:xfrm>
            <a:off x="2230222" y="5504688"/>
            <a:ext cx="4572000" cy="310896"/>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Trajectoire, gouvernance et annexe 7</a:t>
            </a:r>
            <a:endParaRPr lang="en-US" sz="1500" dirty="0"/>
          </a:p>
        </p:txBody>
      </p:sp>
      <p:sp>
        <p:nvSpPr>
          <p:cNvPr id="27" name="Cadre recommandation"/>
          <p:cNvSpPr/>
          <p:nvPr/>
        </p:nvSpPr>
        <p:spPr>
          <a:xfrm>
            <a:off x="7872984" y="4572000"/>
            <a:ext cx="4059936" cy="1417320"/>
          </a:xfrm>
          <a:prstGeom prst="roundRect">
            <a:avLst>
              <a:gd name="adj" fmla="val 7742"/>
            </a:avLst>
          </a:prstGeom>
          <a:solidFill>
            <a:schemeClr val="tx1">
              <a:alpha val="92000"/>
            </a:schemeClr>
          </a:solidFill>
          <a:ln w="9525">
            <a:solidFill>
              <a:schemeClr val="accent3"/>
            </a:solidFill>
            <a:prstDash val="solid"/>
          </a:ln>
        </p:spPr>
      </p:sp>
      <p:sp>
        <p:nvSpPr>
          <p:cNvPr id="28" name="Recommandation"/>
          <p:cNvSpPr txBox="1"/>
          <p:nvPr/>
        </p:nvSpPr>
        <p:spPr>
          <a:xfrm>
            <a:off x="8101584" y="4754880"/>
            <a:ext cx="3602736" cy="109728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RECOMMANDATION</a:t>
            </a:r>
            <a:endParaRPr lang="en-US" sz="1000" dirty="0"/>
          </a:p>
          <a:p>
            <a:pPr indent="0" marL="0">
              <a:spcBef>
                <a:spcPts val="600"/>
              </a:spcBef>
              <a:buNone/>
            </a:pPr>
            <a:r>
              <a:rPr lang="en-US" sz="1500" dirty="0">
                <a:solidFill>
                  <a:schemeClr val="bg1"/>
                </a:solidFill>
                <a:latin typeface="Calibri" pitchFamily="34" charset="0"/>
                <a:ea typeface="Calibri" pitchFamily="34" charset="-122"/>
                <a:cs typeface="Calibri" pitchFamily="34" charset="-120"/>
              </a:rPr>
              <a:t>Enrichir la section 8.5 plutôt que créer une section 8.6 : aucun doublon, une page ajoutée.</a:t>
            </a:r>
            <a:endParaRPr lang="en-US" sz="10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12902" y="713232"/>
            <a:ext cx="5394960"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CONTENU DE LA SECTION 8.5</a:t>
            </a:r>
            <a:endParaRPr lang="en-US" sz="1100" dirty="0"/>
          </a:p>
        </p:txBody>
      </p:sp>
      <p:sp>
        <p:nvSpPr>
          <p:cNvPr id="3" name="Text 0"/>
          <p:cNvSpPr/>
          <p:nvPr>
            <p:ph idx="101" type="title" hasCustomPrompt="1"/>
          </p:nvPr>
        </p:nvSpPr>
        <p:spPr>
          <a:xfrm>
            <a:off x="812902" y="1042416"/>
            <a:ext cx="5394960" cy="914400"/>
          </a:xfrm>
          <a:prstGeom prst="rect">
            <a:avLst/>
          </a:prstGeom>
          <a:noFill/>
          <a:ln/>
        </p:spPr>
        <p:txBody>
          <a:bodyPr wrap="square" lIns="0" tIns="0" rIns="0" bIns="0" rtlCol="0" anchor="t"/>
          <a:lstStyle/>
          <a:p>
            <a:pPr algn="l" indent="0" marL="0">
              <a:buNone/>
            </a:pPr>
            <a:r>
              <a:rPr lang="en-US" sz="3000" dirty="0">
                <a:solidFill>
                  <a:schemeClr val="bg1"/>
                </a:solidFill>
                <a:latin typeface="Georgia" pitchFamily="34" charset="0"/>
                <a:ea typeface="Georgia" pitchFamily="34" charset="-122"/>
                <a:cs typeface="Georgia" pitchFamily="34" charset="-120"/>
              </a:rPr>
              <a:t>Le périmètre : trois cercles de dépenses</a:t>
            </a:r>
            <a:endParaRPr lang="en-US" sz="3000" dirty="0"/>
          </a:p>
        </p:txBody>
      </p:sp>
      <p:sp>
        <p:nvSpPr>
          <p:cNvPr id="4" name="Text 0"/>
          <p:cNvSpPr/>
          <p:nvPr>
            <p:ph idx="102" type="body" hasCustomPrompt="1"/>
          </p:nvPr>
        </p:nvSpPr>
        <p:spPr>
          <a:xfrm>
            <a:off x="812902" y="6327648"/>
            <a:ext cx="9834372" cy="27432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Source : TdR de la réunion de cadrage, d'après le projet de feuille de route V0.2</a:t>
            </a:r>
            <a:endParaRPr lang="en-US" sz="1000" dirty="0"/>
          </a:p>
        </p:txBody>
      </p:sp>
      <p:sp>
        <p:nvSpPr>
          <p:cNvPr id="5" name="Cercle 3"/>
          <p:cNvSpPr/>
          <p:nvPr/>
        </p:nvSpPr>
        <p:spPr>
          <a:xfrm>
            <a:off x="6731356" y="1617116"/>
            <a:ext cx="4190695" cy="4190695"/>
          </a:xfrm>
          <a:prstGeom prst="ellipse">
            <a:avLst/>
          </a:prstGeom>
          <a:solidFill>
            <a:srgbClr val="221D14"/>
          </a:solidFill>
          <a:ln w="19050">
            <a:solidFill>
              <a:srgbClr val="6B5A36"/>
            </a:solidFill>
            <a:prstDash val="solid"/>
          </a:ln>
        </p:spPr>
      </p:sp>
      <p:sp>
        <p:nvSpPr>
          <p:cNvPr id="6" name="Cercle 2"/>
          <p:cNvSpPr/>
          <p:nvPr/>
        </p:nvSpPr>
        <p:spPr>
          <a:xfrm>
            <a:off x="7397953" y="2283714"/>
            <a:ext cx="2857500" cy="2857500"/>
          </a:xfrm>
          <a:prstGeom prst="ellipse">
            <a:avLst/>
          </a:prstGeom>
          <a:solidFill>
            <a:srgbClr val="4A3B1C"/>
          </a:solidFill>
          <a:ln w="19050">
            <a:solidFill>
              <a:srgbClr val="8C7036"/>
            </a:solidFill>
            <a:prstDash val="solid"/>
          </a:ln>
        </p:spPr>
      </p:sp>
      <p:sp>
        <p:nvSpPr>
          <p:cNvPr id="7" name="Cercle 1"/>
          <p:cNvSpPr/>
          <p:nvPr/>
        </p:nvSpPr>
        <p:spPr>
          <a:xfrm>
            <a:off x="8033004" y="2918765"/>
            <a:ext cx="1587398" cy="1587398"/>
          </a:xfrm>
          <a:prstGeom prst="ellipse">
            <a:avLst/>
          </a:prstGeom>
          <a:solidFill>
            <a:srgbClr val="E3B34C"/>
          </a:solidFill>
          <a:ln w="19050">
            <a:solidFill>
              <a:srgbClr val="E3B34C"/>
            </a:solidFill>
            <a:prstDash val="solid"/>
          </a:ln>
        </p:spPr>
      </p:sp>
      <p:sp>
        <p:nvSpPr>
          <p:cNvPr id="8" name="Libellé cercle 1"/>
          <p:cNvSpPr txBox="1"/>
          <p:nvPr/>
        </p:nvSpPr>
        <p:spPr>
          <a:xfrm>
            <a:off x="8095183" y="3346704"/>
            <a:ext cx="1463040" cy="731520"/>
          </a:xfrm>
          <a:prstGeom prst="rect">
            <a:avLst/>
          </a:prstGeom>
          <a:noFill/>
          <a:ln/>
        </p:spPr>
        <p:txBody>
          <a:bodyPr wrap="square" lIns="0" tIns="0" rIns="0" bIns="0" rtlCol="0" anchor="ctr"/>
          <a:lstStyle/>
          <a:p>
            <a:pPr algn="ctr" indent="0" marL="0">
              <a:buNone/>
            </a:pPr>
            <a:r>
              <a:rPr lang="en-US" sz="2200" b="1" dirty="0">
                <a:solidFill>
                  <a:schemeClr val="tx1"/>
                </a:solidFill>
                <a:latin typeface="Georgia" pitchFamily="34" charset="0"/>
                <a:ea typeface="Georgia" pitchFamily="34" charset="-122"/>
                <a:cs typeface="Georgia" pitchFamily="34" charset="-120"/>
              </a:rPr>
              <a:t>1</a:t>
            </a:r>
            <a:endParaRPr lang="en-US" sz="2200" dirty="0"/>
          </a:p>
          <a:p>
            <a:pPr algn="ctr" indent="0" marL="0">
              <a:buNone/>
            </a:pPr>
            <a:r>
              <a:rPr lang="en-US" sz="1400" b="1" dirty="0">
                <a:solidFill>
                  <a:schemeClr val="tx1"/>
                </a:solidFill>
                <a:latin typeface="Calibri" pitchFamily="34" charset="0"/>
                <a:ea typeface="Calibri" pitchFamily="34" charset="-122"/>
                <a:cs typeface="Calibri" pitchFamily="34" charset="-120"/>
              </a:rPr>
              <a:t>Obligations Gavi</a:t>
            </a:r>
            <a:endParaRPr lang="en-US" sz="2200" dirty="0"/>
          </a:p>
        </p:txBody>
      </p:sp>
      <p:sp>
        <p:nvSpPr>
          <p:cNvPr id="9" name="Libellé cercle 2"/>
          <p:cNvSpPr txBox="1"/>
          <p:nvPr/>
        </p:nvSpPr>
        <p:spPr>
          <a:xfrm>
            <a:off x="8598103" y="2395728"/>
            <a:ext cx="457200" cy="365760"/>
          </a:xfrm>
          <a:prstGeom prst="rect">
            <a:avLst/>
          </a:prstGeom>
          <a:noFill/>
          <a:ln/>
        </p:spPr>
        <p:txBody>
          <a:bodyPr wrap="square" lIns="0" tIns="0" rIns="0" bIns="0" rtlCol="0" anchor="t"/>
          <a:lstStyle/>
          <a:p>
            <a:pPr algn="ctr" indent="0" marL="0">
              <a:buNone/>
            </a:pPr>
            <a:r>
              <a:rPr lang="en-US" sz="2200" b="1" dirty="0">
                <a:solidFill>
                  <a:schemeClr val="bg1"/>
                </a:solidFill>
                <a:latin typeface="Georgia" pitchFamily="34" charset="0"/>
                <a:ea typeface="Georgia" pitchFamily="34" charset="-122"/>
                <a:cs typeface="Georgia" pitchFamily="34" charset="-120"/>
              </a:rPr>
              <a:t>2</a:t>
            </a:r>
            <a:endParaRPr lang="en-US" sz="2200" dirty="0"/>
          </a:p>
        </p:txBody>
      </p:sp>
      <p:sp>
        <p:nvSpPr>
          <p:cNvPr id="10" name="Libellé cercle 3"/>
          <p:cNvSpPr txBox="1"/>
          <p:nvPr/>
        </p:nvSpPr>
        <p:spPr>
          <a:xfrm>
            <a:off x="8598103" y="1737360"/>
            <a:ext cx="457200" cy="365760"/>
          </a:xfrm>
          <a:prstGeom prst="rect">
            <a:avLst/>
          </a:prstGeom>
          <a:noFill/>
          <a:ln/>
        </p:spPr>
        <p:txBody>
          <a:bodyPr wrap="square" lIns="0" tIns="0" rIns="0" bIns="0" rtlCol="0" anchor="t"/>
          <a:lstStyle/>
          <a:p>
            <a:pPr algn="ctr" indent="0" marL="0">
              <a:buNone/>
            </a:pPr>
            <a:r>
              <a:rPr lang="en-US" sz="2200" b="1" dirty="0">
                <a:solidFill>
                  <a:schemeClr val="accent1"/>
                </a:solidFill>
                <a:latin typeface="Georgia" pitchFamily="34" charset="0"/>
                <a:ea typeface="Georgia" pitchFamily="34" charset="-122"/>
                <a:cs typeface="Georgia" pitchFamily="34" charset="-120"/>
              </a:rPr>
              <a:t>3</a:t>
            </a:r>
            <a:endParaRPr lang="en-US" sz="2200" dirty="0"/>
          </a:p>
        </p:txBody>
      </p:sp>
      <p:sp>
        <p:nvSpPr>
          <p:cNvPr id="11" name="Numéro 1"/>
          <p:cNvSpPr txBox="1"/>
          <p:nvPr/>
        </p:nvSpPr>
        <p:spPr>
          <a:xfrm>
            <a:off x="812902" y="2194560"/>
            <a:ext cx="457200" cy="548640"/>
          </a:xfrm>
          <a:prstGeom prst="rect">
            <a:avLst/>
          </a:prstGeom>
          <a:noFill/>
          <a:ln/>
        </p:spPr>
        <p:txBody>
          <a:bodyPr wrap="square" lIns="0" tIns="0" rIns="0" bIns="0" rtlCol="0" anchor="t"/>
          <a:lstStyle/>
          <a:p>
            <a:pPr indent="0" marL="0">
              <a:buNone/>
            </a:pPr>
            <a:r>
              <a:rPr lang="en-US" sz="3000" b="1" dirty="0">
                <a:solidFill>
                  <a:schemeClr val="accent1"/>
                </a:solidFill>
                <a:latin typeface="Georgia" pitchFamily="34" charset="0"/>
                <a:ea typeface="Georgia" pitchFamily="34" charset="-122"/>
                <a:cs typeface="Georgia" pitchFamily="34" charset="-120"/>
              </a:rPr>
              <a:t>1</a:t>
            </a:r>
            <a:endParaRPr lang="en-US" sz="3000" dirty="0"/>
          </a:p>
        </p:txBody>
      </p:sp>
      <p:sp>
        <p:nvSpPr>
          <p:cNvPr id="12" name="Cercle 1 : description"/>
          <p:cNvSpPr txBox="1"/>
          <p:nvPr/>
        </p:nvSpPr>
        <p:spPr>
          <a:xfrm>
            <a:off x="1407262" y="2240280"/>
            <a:ext cx="4754880" cy="96012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Obligations envers Gavi</a:t>
            </a:r>
            <a:endParaRPr lang="en-US" sz="1600" dirty="0"/>
          </a:p>
          <a:p>
            <a:pPr indent="0" marL="0">
              <a:spcBef>
                <a:spcPts val="400"/>
              </a:spcBef>
              <a:buNone/>
            </a:pPr>
            <a:r>
              <a:rPr lang="en-US" sz="1400" dirty="0">
                <a:solidFill>
                  <a:schemeClr val="bg2"/>
                </a:solidFill>
                <a:latin typeface="Calibri" pitchFamily="34" charset="0"/>
                <a:ea typeface="Calibri" pitchFamily="34" charset="-122"/>
                <a:cs typeface="Calibri" pitchFamily="34" charset="-120"/>
              </a:rPr>
              <a:t>Cofinancement des vaccins soutenus par Gavi, jusqu'au 31 décembre 2029.</a:t>
            </a:r>
            <a:endParaRPr lang="en-US" sz="1600" dirty="0"/>
          </a:p>
        </p:txBody>
      </p:sp>
      <p:sp>
        <p:nvSpPr>
          <p:cNvPr id="13" name="Numéro 2"/>
          <p:cNvSpPr txBox="1"/>
          <p:nvPr/>
        </p:nvSpPr>
        <p:spPr>
          <a:xfrm>
            <a:off x="812902" y="3383280"/>
            <a:ext cx="457200" cy="548640"/>
          </a:xfrm>
          <a:prstGeom prst="rect">
            <a:avLst/>
          </a:prstGeom>
          <a:noFill/>
          <a:ln/>
        </p:spPr>
        <p:txBody>
          <a:bodyPr wrap="square" lIns="0" tIns="0" rIns="0" bIns="0" rtlCol="0" anchor="t"/>
          <a:lstStyle/>
          <a:p>
            <a:pPr indent="0" marL="0">
              <a:buNone/>
            </a:pPr>
            <a:r>
              <a:rPr lang="en-US" sz="3000" b="1" dirty="0">
                <a:solidFill>
                  <a:schemeClr val="accent1"/>
                </a:solidFill>
                <a:latin typeface="Georgia" pitchFamily="34" charset="0"/>
                <a:ea typeface="Georgia" pitchFamily="34" charset="-122"/>
                <a:cs typeface="Georgia" pitchFamily="34" charset="-120"/>
              </a:rPr>
              <a:t>2</a:t>
            </a:r>
            <a:endParaRPr lang="en-US" sz="3000" dirty="0"/>
          </a:p>
        </p:txBody>
      </p:sp>
      <p:sp>
        <p:nvSpPr>
          <p:cNvPr id="14" name="Cercle 2 : description"/>
          <p:cNvSpPr txBox="1"/>
          <p:nvPr/>
        </p:nvSpPr>
        <p:spPr>
          <a:xfrm>
            <a:off x="1407262" y="3429000"/>
            <a:ext cx="4754880" cy="96012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Coûts opérationnels récurrents</a:t>
            </a:r>
            <a:endParaRPr lang="en-US" sz="1600" dirty="0"/>
          </a:p>
          <a:p>
            <a:pPr indent="0" marL="0">
              <a:spcBef>
                <a:spcPts val="400"/>
              </a:spcBef>
              <a:buNone/>
            </a:pPr>
            <a:r>
              <a:rPr lang="en-US" sz="1400" dirty="0">
                <a:solidFill>
                  <a:schemeClr val="bg2"/>
                </a:solidFill>
                <a:latin typeface="Calibri" pitchFamily="34" charset="0"/>
                <a:ea typeface="Calibri" pitchFamily="34" charset="-122"/>
                <a:cs typeface="Calibri" pitchFamily="34" charset="-120"/>
              </a:rPr>
              <a:t>Fonctionnement du programme, aujourd'hui largement financé par Gavi.</a:t>
            </a:r>
            <a:endParaRPr lang="en-US" sz="1600" dirty="0"/>
          </a:p>
        </p:txBody>
      </p:sp>
      <p:sp>
        <p:nvSpPr>
          <p:cNvPr id="15" name="Numéro 3"/>
          <p:cNvSpPr txBox="1"/>
          <p:nvPr/>
        </p:nvSpPr>
        <p:spPr>
          <a:xfrm>
            <a:off x="812902" y="4572000"/>
            <a:ext cx="457200" cy="548640"/>
          </a:xfrm>
          <a:prstGeom prst="rect">
            <a:avLst/>
          </a:prstGeom>
          <a:noFill/>
          <a:ln/>
        </p:spPr>
        <p:txBody>
          <a:bodyPr wrap="square" lIns="0" tIns="0" rIns="0" bIns="0" rtlCol="0" anchor="t"/>
          <a:lstStyle/>
          <a:p>
            <a:pPr indent="0" marL="0">
              <a:buNone/>
            </a:pPr>
            <a:r>
              <a:rPr lang="en-US" sz="3000" b="1" dirty="0">
                <a:solidFill>
                  <a:schemeClr val="accent1"/>
                </a:solidFill>
                <a:latin typeface="Georgia" pitchFamily="34" charset="0"/>
                <a:ea typeface="Georgia" pitchFamily="34" charset="-122"/>
                <a:cs typeface="Georgia" pitchFamily="34" charset="-120"/>
              </a:rPr>
              <a:t>3</a:t>
            </a:r>
            <a:endParaRPr lang="en-US" sz="3000" dirty="0"/>
          </a:p>
        </p:txBody>
      </p:sp>
      <p:sp>
        <p:nvSpPr>
          <p:cNvPr id="16" name="Cercle 3 : description"/>
          <p:cNvSpPr txBox="1"/>
          <p:nvPr/>
        </p:nvSpPr>
        <p:spPr>
          <a:xfrm>
            <a:off x="1407262" y="4617720"/>
            <a:ext cx="4754880" cy="96012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Vaccins traditionnels</a:t>
            </a:r>
            <a:endParaRPr lang="en-US" sz="1600" dirty="0"/>
          </a:p>
          <a:p>
            <a:pPr indent="0" marL="0">
              <a:spcBef>
                <a:spcPts val="400"/>
              </a:spcBef>
              <a:buNone/>
            </a:pPr>
            <a:r>
              <a:rPr lang="en-US" sz="1400" dirty="0">
                <a:solidFill>
                  <a:schemeClr val="bg2"/>
                </a:solidFill>
                <a:latin typeface="Calibri" pitchFamily="34" charset="0"/>
                <a:ea typeface="Calibri" pitchFamily="34" charset="-122"/>
                <a:cs typeface="Calibri" pitchFamily="34" charset="-120"/>
              </a:rPr>
              <a:t>Vaccins jusqu'ici acquis par l'UNICEF, à intégrer au budget de l'État.</a:t>
            </a:r>
            <a:endParaRPr lang="en-US" sz="16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812902" y="713232"/>
            <a:ext cx="10565892"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RENVOI · CHAPITRE 6</a:t>
            </a:r>
            <a:endParaRPr lang="en-US" sz="1100" dirty="0"/>
          </a:p>
        </p:txBody>
      </p:sp>
      <p:sp>
        <p:nvSpPr>
          <p:cNvPr id="3" name="Text 0"/>
          <p:cNvSpPr/>
          <p:nvPr>
            <p:ph idx="101" type="title" hasCustomPrompt="1"/>
          </p:nvPr>
        </p:nvSpPr>
        <p:spPr>
          <a:xfrm>
            <a:off x="812902" y="1042416"/>
            <a:ext cx="10565892" cy="914400"/>
          </a:xfrm>
          <a:prstGeom prst="rect">
            <a:avLst/>
          </a:prstGeom>
          <a:noFill/>
          <a:ln/>
        </p:spPr>
        <p:txBody>
          <a:bodyPr wrap="square" lIns="0" tIns="0" rIns="0" bIns="0" rtlCol="0" anchor="t"/>
          <a:lstStyle/>
          <a:p>
            <a:pPr algn="l" indent="0" marL="0">
              <a:buNone/>
            </a:pPr>
            <a:r>
              <a:rPr lang="en-US" sz="3000" dirty="0">
                <a:solidFill>
                  <a:schemeClr val="bg1"/>
                </a:solidFill>
                <a:latin typeface="Georgia" pitchFamily="34" charset="0"/>
                <a:ea typeface="Georgia" pitchFamily="34" charset="-122"/>
                <a:cs typeface="Georgia" pitchFamily="34" charset="-120"/>
              </a:rPr>
              <a:t>Objectif 1.5 : relier ce qui est déjà annoncé</a:t>
            </a:r>
            <a:endParaRPr lang="en-US" sz="3000" dirty="0"/>
          </a:p>
        </p:txBody>
      </p:sp>
      <p:sp>
        <p:nvSpPr>
          <p:cNvPr id="4" name="Text 0"/>
          <p:cNvSpPr/>
          <p:nvPr>
            <p:ph idx="102" type="body" hasCustomPrompt="1"/>
          </p:nvPr>
        </p:nvSpPr>
        <p:spPr>
          <a:xfrm>
            <a:off x="812902" y="6327648"/>
            <a:ext cx="9834372" cy="27432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Source : SNV draft 3.8, sous-composante 1.5 (chapitre 6) et indicateurs 1.5.a et 1.5.b (section 7.2)</a:t>
            </a:r>
            <a:endParaRPr lang="en-US" sz="1000" dirty="0"/>
          </a:p>
        </p:txBody>
      </p:sp>
      <p:sp>
        <p:nvSpPr>
          <p:cNvPr id="5" name="Repère texte actuel"/>
          <p:cNvSpPr txBox="1"/>
          <p:nvPr/>
        </p:nvSpPr>
        <p:spPr>
          <a:xfrm>
            <a:off x="812902" y="1874520"/>
            <a:ext cx="6583680" cy="22860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TEXTE ACTUEL · SOUS-COMPOSANTE 1.5</a:t>
            </a:r>
            <a:endParaRPr lang="en-US" sz="1000" dirty="0"/>
          </a:p>
        </p:txBody>
      </p:sp>
      <p:sp>
        <p:nvSpPr>
          <p:cNvPr id="6" name="Citation objectif 1.5"/>
          <p:cNvSpPr txBox="1"/>
          <p:nvPr/>
        </p:nvSpPr>
        <p:spPr>
          <a:xfrm>
            <a:off x="812902" y="2176272"/>
            <a:ext cx="6583680" cy="1325880"/>
          </a:xfrm>
          <a:prstGeom prst="rect">
            <a:avLst/>
          </a:prstGeom>
          <a:noFill/>
          <a:ln/>
        </p:spPr>
        <p:txBody>
          <a:bodyPr wrap="square" lIns="0" tIns="0" rIns="0" bIns="0" rtlCol="0" anchor="t"/>
          <a:lstStyle/>
          <a:p>
            <a:pPr indent="0" marL="0">
              <a:lnSpc>
                <a:spcPct val="115000"/>
              </a:lnSpc>
              <a:buNone/>
            </a:pPr>
            <a:r>
              <a:rPr lang="en-US" sz="1600" i="1" dirty="0">
                <a:solidFill>
                  <a:schemeClr val="bg2"/>
                </a:solidFill>
                <a:latin typeface="Georgia" pitchFamily="34" charset="0"/>
                <a:ea typeface="Georgia" pitchFamily="34" charset="-122"/>
                <a:cs typeface="Georgia" pitchFamily="34" charset="-120"/>
              </a:rPr>
              <a:t>« … régler la totalité des échéances de cofinancement Gavi dans les délais contractuels pour chacun des exercices 2027 à 2030, </a:t>
            </a:r>
            <a:pPr indent="0" marL="0">
              <a:lnSpc>
                <a:spcPct val="115000"/>
              </a:lnSpc>
              <a:buNone/>
            </a:pPr>
            <a:r>
              <a:rPr lang="en-US" sz="1600" b="1" i="1" dirty="0">
                <a:solidFill>
                  <a:schemeClr val="accent1"/>
                </a:solidFill>
                <a:latin typeface="Georgia" pitchFamily="34" charset="0"/>
                <a:ea typeface="Georgia" pitchFamily="34" charset="-122"/>
                <a:cs typeface="Georgia" pitchFamily="34" charset="-120"/>
              </a:rPr>
              <a:t>conformément à la feuille de route</a:t>
            </a:r>
            <a:pPr indent="0" marL="0">
              <a:lnSpc>
                <a:spcPct val="115000"/>
              </a:lnSpc>
              <a:buNone/>
            </a:pPr>
            <a:r>
              <a:rPr lang="en-US" sz="1600" i="1" dirty="0">
                <a:solidFill>
                  <a:schemeClr val="bg2"/>
                </a:solidFill>
                <a:latin typeface="Georgia" pitchFamily="34" charset="0"/>
                <a:ea typeface="Georgia" pitchFamily="34" charset="-122"/>
                <a:cs typeface="Georgia" pitchFamily="34" charset="-120"/>
              </a:rPr>
              <a:t> sur le financement de la vaccination adoptée par le Gouvernement. »</a:t>
            </a:r>
            <a:endParaRPr lang="en-US" sz="1600" dirty="0"/>
          </a:p>
        </p:txBody>
      </p:sp>
      <p:sp>
        <p:nvSpPr>
          <p:cNvPr id="7" name="Cadre ajout"/>
          <p:cNvSpPr/>
          <p:nvPr/>
        </p:nvSpPr>
        <p:spPr>
          <a:xfrm>
            <a:off x="812902" y="3657600"/>
            <a:ext cx="6583680" cy="1463040"/>
          </a:xfrm>
          <a:prstGeom prst="roundRect">
            <a:avLst>
              <a:gd name="adj" fmla="val 6250"/>
            </a:avLst>
          </a:prstGeom>
          <a:solidFill>
            <a:schemeClr val="bg1"/>
          </a:solidFill>
          <a:ln/>
        </p:spPr>
      </p:sp>
      <p:sp>
        <p:nvSpPr>
          <p:cNvPr id="8" name="Ajout proposé"/>
          <p:cNvSpPr txBox="1"/>
          <p:nvPr/>
        </p:nvSpPr>
        <p:spPr>
          <a:xfrm>
            <a:off x="1068934" y="3840480"/>
            <a:ext cx="6071616" cy="1143000"/>
          </a:xfrm>
          <a:prstGeom prst="rect">
            <a:avLst/>
          </a:prstGeom>
          <a:noFill/>
          <a:ln/>
        </p:spPr>
        <p:txBody>
          <a:bodyPr wrap="square" lIns="0" tIns="0" rIns="0" bIns="0" rtlCol="0" anchor="t"/>
          <a:lstStyle/>
          <a:p>
            <a:pPr indent="0" marL="0">
              <a:buNone/>
            </a:pPr>
            <a:r>
              <a:rPr lang="en-US" sz="1000" b="1" spc="200" kern="0" dirty="0">
                <a:solidFill>
                  <a:schemeClr val="accent6"/>
                </a:solidFill>
                <a:latin typeface="Calibri" pitchFamily="34" charset="0"/>
                <a:ea typeface="Calibri" pitchFamily="34" charset="-122"/>
                <a:cs typeface="Calibri" pitchFamily="34" charset="-120"/>
              </a:rPr>
              <a:t>AJOUT PROPOSÉ · UNE PHRASE</a:t>
            </a:r>
            <a:endParaRPr lang="en-US" sz="1000" dirty="0"/>
          </a:p>
          <a:p>
            <a:pPr indent="0" marL="0">
              <a:spcBef>
                <a:spcPts val="600"/>
              </a:spcBef>
              <a:buNone/>
            </a:pPr>
            <a:r>
              <a:rPr lang="en-US" sz="1500" dirty="0">
                <a:solidFill>
                  <a:schemeClr val="tx1"/>
                </a:solidFill>
                <a:latin typeface="Calibri" pitchFamily="34" charset="0"/>
                <a:ea typeface="Calibri" pitchFamily="34" charset="-122"/>
                <a:cs typeface="Calibri" pitchFamily="34" charset="-120"/>
              </a:rPr>
              <a:t>« Les modalités de cette trajectoire (périmètre, hypothèses, calendrier de paiement et gouvernance) sont présentées à la section 8.5 et détaillées à l'annexe 7. »</a:t>
            </a:r>
            <a:endParaRPr lang="en-US" sz="1000" dirty="0"/>
          </a:p>
        </p:txBody>
      </p:sp>
      <p:sp>
        <p:nvSpPr>
          <p:cNvPr id="9" name="Point d'attention"/>
          <p:cNvSpPr txBox="1"/>
          <p:nvPr/>
        </p:nvSpPr>
        <p:spPr>
          <a:xfrm>
            <a:off x="812902" y="5349240"/>
            <a:ext cx="6583680" cy="5486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À noter : </a:t>
            </a:r>
            <a:pPr indent="0" marL="0">
              <a:buNone/>
            </a:pPr>
            <a:r>
              <a:rPr lang="en-US" sz="1400" dirty="0">
                <a:solidFill>
                  <a:schemeClr val="bg2"/>
                </a:solidFill>
                <a:latin typeface="Calibri" pitchFamily="34" charset="0"/>
                <a:ea typeface="Calibri" pitchFamily="34" charset="-122"/>
                <a:cs typeface="Calibri" pitchFamily="34" charset="-120"/>
              </a:rPr>
              <a:t>la base de 1.5.a (46 % en 2026) sera recalculée sur le périmètre de la feuille de route.</a:t>
            </a:r>
            <a:endParaRPr lang="en-US" sz="1400" dirty="0"/>
          </a:p>
        </p:txBody>
      </p:sp>
      <p:sp>
        <p:nvSpPr>
          <p:cNvPr id="10" name="Cadre INDICATEUR 1.5.a"/>
          <p:cNvSpPr/>
          <p:nvPr/>
        </p:nvSpPr>
        <p:spPr>
          <a:xfrm>
            <a:off x="7772400" y="1874520"/>
            <a:ext cx="3606394" cy="1874520"/>
          </a:xfrm>
          <a:prstGeom prst="roundRect">
            <a:avLst>
              <a:gd name="adj" fmla="val 5854"/>
            </a:avLst>
          </a:prstGeom>
          <a:solidFill>
            <a:schemeClr val="tx2"/>
          </a:solidFill>
          <a:ln w="9525">
            <a:solidFill>
              <a:schemeClr val="accent5"/>
            </a:solidFill>
            <a:prstDash val="solid"/>
          </a:ln>
        </p:spPr>
      </p:sp>
      <p:sp>
        <p:nvSpPr>
          <p:cNvPr id="11" name="INDICATEUR 1.5.a"/>
          <p:cNvSpPr txBox="1"/>
          <p:nvPr/>
        </p:nvSpPr>
        <p:spPr>
          <a:xfrm>
            <a:off x="8001000" y="2057400"/>
            <a:ext cx="3154680" cy="155448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INDICATEUR 1.5.a</a:t>
            </a:r>
            <a:endParaRPr lang="en-US" sz="1000" dirty="0"/>
          </a:p>
          <a:p>
            <a:pPr indent="0" marL="0">
              <a:buNone/>
            </a:pPr>
            <a:r>
              <a:rPr lang="en-US" sz="3600" b="1" dirty="0">
                <a:solidFill>
                  <a:schemeClr val="accent1"/>
                </a:solidFill>
                <a:latin typeface="Georgia" pitchFamily="34" charset="0"/>
                <a:ea typeface="Georgia" pitchFamily="34" charset="-122"/>
                <a:cs typeface="Georgia" pitchFamily="34" charset="-120"/>
              </a:rPr>
              <a:t>100 %</a:t>
            </a:r>
            <a:endParaRPr lang="en-US" sz="1000" dirty="0"/>
          </a:p>
          <a:p>
            <a:pPr indent="0" marL="0">
              <a:buNone/>
            </a:pPr>
            <a:r>
              <a:rPr lang="en-US" sz="1400" dirty="0">
                <a:solidFill>
                  <a:schemeClr val="bg2"/>
                </a:solidFill>
                <a:latin typeface="Calibri" pitchFamily="34" charset="0"/>
                <a:ea typeface="Calibri" pitchFamily="34" charset="-122"/>
                <a:cs typeface="Calibri" pitchFamily="34" charset="-120"/>
              </a:rPr>
              <a:t>Part de l'État dans l'achat des vaccins en 2030</a:t>
            </a:r>
            <a:endParaRPr lang="en-US" sz="1000" dirty="0"/>
          </a:p>
        </p:txBody>
      </p:sp>
      <p:sp>
        <p:nvSpPr>
          <p:cNvPr id="12" name="Cadre INDICATEUR 1.5.b"/>
          <p:cNvSpPr/>
          <p:nvPr/>
        </p:nvSpPr>
        <p:spPr>
          <a:xfrm>
            <a:off x="7772400" y="3931920"/>
            <a:ext cx="3606394" cy="1874520"/>
          </a:xfrm>
          <a:prstGeom prst="roundRect">
            <a:avLst>
              <a:gd name="adj" fmla="val 5854"/>
            </a:avLst>
          </a:prstGeom>
          <a:solidFill>
            <a:schemeClr val="tx2"/>
          </a:solidFill>
          <a:ln w="9525">
            <a:solidFill>
              <a:schemeClr val="accent5"/>
            </a:solidFill>
            <a:prstDash val="solid"/>
          </a:ln>
        </p:spPr>
      </p:sp>
      <p:sp>
        <p:nvSpPr>
          <p:cNvPr id="13" name="INDICATEUR 1.5.b"/>
          <p:cNvSpPr txBox="1"/>
          <p:nvPr/>
        </p:nvSpPr>
        <p:spPr>
          <a:xfrm>
            <a:off x="8001000" y="4114800"/>
            <a:ext cx="3154680" cy="1554480"/>
          </a:xfrm>
          <a:prstGeom prst="rect">
            <a:avLst/>
          </a:prstGeom>
          <a:noFill/>
          <a:ln/>
        </p:spPr>
        <p:txBody>
          <a:bodyPr wrap="square" lIns="0" tIns="0" rIns="0" bIns="0" rtlCol="0" anchor="t"/>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INDICATEUR 1.5.b</a:t>
            </a:r>
            <a:endParaRPr lang="en-US" sz="1000" dirty="0"/>
          </a:p>
          <a:p>
            <a:pPr indent="0" marL="0">
              <a:buNone/>
            </a:pPr>
            <a:r>
              <a:rPr lang="en-US" sz="3600" b="1" dirty="0">
                <a:solidFill>
                  <a:schemeClr val="accent1"/>
                </a:solidFill>
                <a:latin typeface="Georgia" pitchFamily="34" charset="0"/>
                <a:ea typeface="Georgia" pitchFamily="34" charset="-122"/>
                <a:cs typeface="Georgia" pitchFamily="34" charset="-120"/>
              </a:rPr>
              <a:t>100 %</a:t>
            </a:r>
            <a:endParaRPr lang="en-US" sz="1000" dirty="0"/>
          </a:p>
          <a:p>
            <a:pPr indent="0" marL="0">
              <a:buNone/>
            </a:pPr>
            <a:r>
              <a:rPr lang="en-US" sz="1400" dirty="0">
                <a:solidFill>
                  <a:schemeClr val="bg2"/>
                </a:solidFill>
                <a:latin typeface="Calibri" pitchFamily="34" charset="0"/>
                <a:ea typeface="Calibri" pitchFamily="34" charset="-122"/>
                <a:cs typeface="Calibri" pitchFamily="34" charset="-120"/>
              </a:rPr>
              <a:t>Échéances de cofinancement Gavi réglées à temps, chaque exercice</a:t>
            </a:r>
            <a:endParaRPr lang="en-US" sz="10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12902" y="713232"/>
            <a:ext cx="10565892"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DOCUMENT COMPLET · CHAPITRE 10</a:t>
            </a:r>
            <a:endParaRPr lang="en-US" sz="1100" dirty="0"/>
          </a:p>
        </p:txBody>
      </p:sp>
      <p:sp>
        <p:nvSpPr>
          <p:cNvPr id="3" name="Text 0"/>
          <p:cNvSpPr/>
          <p:nvPr>
            <p:ph idx="101" type="title" hasCustomPrompt="1"/>
          </p:nvPr>
        </p:nvSpPr>
        <p:spPr>
          <a:xfrm>
            <a:off x="812902" y="1042416"/>
            <a:ext cx="10565892" cy="914400"/>
          </a:xfrm>
          <a:prstGeom prst="rect">
            <a:avLst/>
          </a:prstGeom>
          <a:noFill/>
          <a:ln/>
        </p:spPr>
        <p:txBody>
          <a:bodyPr wrap="square" lIns="0" tIns="0" rIns="0" bIns="0" rtlCol="0" anchor="t"/>
          <a:lstStyle/>
          <a:p>
            <a:pPr algn="l" indent="0" marL="0">
              <a:buNone/>
            </a:pPr>
            <a:r>
              <a:rPr lang="en-US" sz="3000" dirty="0">
                <a:solidFill>
                  <a:schemeClr val="bg1"/>
                </a:solidFill>
                <a:latin typeface="Georgia" pitchFamily="34" charset="0"/>
                <a:ea typeface="Georgia" pitchFamily="34" charset="-122"/>
                <a:cs typeface="Georgia" pitchFamily="34" charset="-120"/>
              </a:rPr>
              <a:t>Annexe 7 : la feuille de route intégrale</a:t>
            </a:r>
            <a:endParaRPr lang="en-US" sz="3000" dirty="0"/>
          </a:p>
        </p:txBody>
      </p:sp>
      <p:sp>
        <p:nvSpPr>
          <p:cNvPr id="4" name="Text 0"/>
          <p:cNvSpPr/>
          <p:nvPr>
            <p:ph idx="102" type="body" hasCustomPrompt="1"/>
          </p:nvPr>
        </p:nvSpPr>
        <p:spPr>
          <a:xfrm>
            <a:off x="812902" y="6327648"/>
            <a:ext cx="9834372" cy="27432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Source : SNV draft 3.8, chapitre 10 (tableau des annexes A1 à A6) et section 8.2</a:t>
            </a:r>
            <a:endParaRPr lang="en-US" sz="1000" dirty="0"/>
          </a:p>
        </p:txBody>
      </p:sp>
      <p:sp>
        <p:nvSpPr>
          <p:cNvPr id="5" name="Code A1"/>
          <p:cNvSpPr txBox="1"/>
          <p:nvPr/>
        </p:nvSpPr>
        <p:spPr>
          <a:xfrm>
            <a:off x="812902" y="1874520"/>
            <a:ext cx="548640" cy="365760"/>
          </a:xfrm>
          <a:prstGeom prst="rect">
            <a:avLst/>
          </a:prstGeom>
          <a:noFill/>
          <a:ln/>
        </p:spPr>
        <p:txBody>
          <a:bodyPr wrap="square" lIns="0" tIns="0" rIns="0" bIns="0" rtlCol="0" anchor="ctr"/>
          <a:lstStyle/>
          <a:p>
            <a:pPr indent="0" marL="0">
              <a:buNone/>
            </a:pPr>
            <a:r>
              <a:rPr lang="en-US" sz="1500" b="1" dirty="0">
                <a:solidFill>
                  <a:schemeClr val="accent4"/>
                </a:solidFill>
                <a:latin typeface="Georgia" pitchFamily="34" charset="0"/>
                <a:ea typeface="Georgia" pitchFamily="34" charset="-122"/>
                <a:cs typeface="Georgia" pitchFamily="34" charset="-120"/>
              </a:rPr>
              <a:t>A1</a:t>
            </a:r>
            <a:endParaRPr lang="en-US" sz="1500" dirty="0"/>
          </a:p>
        </p:txBody>
      </p:sp>
      <p:sp>
        <p:nvSpPr>
          <p:cNvPr id="6" name="Annexe A1"/>
          <p:cNvSpPr txBox="1"/>
          <p:nvPr/>
        </p:nvSpPr>
        <p:spPr>
          <a:xfrm>
            <a:off x="1452982" y="1874520"/>
            <a:ext cx="4297680" cy="365760"/>
          </a:xfrm>
          <a:prstGeom prst="rect">
            <a:avLst/>
          </a:prstGeom>
          <a:noFill/>
          <a:ln/>
        </p:spPr>
        <p:txBody>
          <a:bodyPr wrap="square" lIns="0" tIns="0" rIns="0" bIns="0" rtlCol="0" anchor="ctr"/>
          <a:lstStyle/>
          <a:p>
            <a:pPr indent="0" marL="0">
              <a:buNone/>
            </a:pPr>
            <a:r>
              <a:rPr lang="en-US" sz="1400" dirty="0">
                <a:solidFill>
                  <a:schemeClr val="bg2"/>
                </a:solidFill>
                <a:latin typeface="Calibri" pitchFamily="34" charset="0"/>
                <a:ea typeface="Calibri" pitchFamily="34" charset="-122"/>
                <a:cs typeface="Calibri" pitchFamily="34" charset="-120"/>
              </a:rPr>
              <a:t>Participants aux ateliers</a:t>
            </a:r>
            <a:endParaRPr lang="en-US" sz="1400" dirty="0"/>
          </a:p>
        </p:txBody>
      </p:sp>
      <p:sp>
        <p:nvSpPr>
          <p:cNvPr id="7" name="Ligne A1"/>
          <p:cNvSpPr/>
          <p:nvPr/>
        </p:nvSpPr>
        <p:spPr>
          <a:xfrm>
            <a:off x="812902" y="2276856"/>
            <a:ext cx="4956048" cy="0"/>
          </a:xfrm>
          <a:prstGeom prst="line">
            <a:avLst/>
          </a:prstGeom>
          <a:noFill/>
          <a:ln w="9525">
            <a:solidFill>
              <a:schemeClr val="accent5"/>
            </a:solidFill>
            <a:prstDash val="solid"/>
          </a:ln>
        </p:spPr>
      </p:sp>
      <p:sp>
        <p:nvSpPr>
          <p:cNvPr id="8" name="Code A2"/>
          <p:cNvSpPr txBox="1"/>
          <p:nvPr/>
        </p:nvSpPr>
        <p:spPr>
          <a:xfrm>
            <a:off x="812902" y="2295144"/>
            <a:ext cx="548640" cy="365760"/>
          </a:xfrm>
          <a:prstGeom prst="rect">
            <a:avLst/>
          </a:prstGeom>
          <a:noFill/>
          <a:ln/>
        </p:spPr>
        <p:txBody>
          <a:bodyPr wrap="square" lIns="0" tIns="0" rIns="0" bIns="0" rtlCol="0" anchor="ctr"/>
          <a:lstStyle/>
          <a:p>
            <a:pPr indent="0" marL="0">
              <a:buNone/>
            </a:pPr>
            <a:r>
              <a:rPr lang="en-US" sz="1500" b="1" dirty="0">
                <a:solidFill>
                  <a:schemeClr val="accent4"/>
                </a:solidFill>
                <a:latin typeface="Georgia" pitchFamily="34" charset="0"/>
                <a:ea typeface="Georgia" pitchFamily="34" charset="-122"/>
                <a:cs typeface="Georgia" pitchFamily="34" charset="-120"/>
              </a:rPr>
              <a:t>A2</a:t>
            </a:r>
            <a:endParaRPr lang="en-US" sz="1500" dirty="0"/>
          </a:p>
        </p:txBody>
      </p:sp>
      <p:sp>
        <p:nvSpPr>
          <p:cNvPr id="9" name="Annexe A2"/>
          <p:cNvSpPr txBox="1"/>
          <p:nvPr/>
        </p:nvSpPr>
        <p:spPr>
          <a:xfrm>
            <a:off x="1452982" y="2295144"/>
            <a:ext cx="4297680" cy="365760"/>
          </a:xfrm>
          <a:prstGeom prst="rect">
            <a:avLst/>
          </a:prstGeom>
          <a:noFill/>
          <a:ln/>
        </p:spPr>
        <p:txBody>
          <a:bodyPr wrap="square" lIns="0" tIns="0" rIns="0" bIns="0" rtlCol="0" anchor="ctr"/>
          <a:lstStyle/>
          <a:p>
            <a:pPr indent="0" marL="0">
              <a:buNone/>
            </a:pPr>
            <a:r>
              <a:rPr lang="en-US" sz="1400" dirty="0">
                <a:solidFill>
                  <a:schemeClr val="bg2"/>
                </a:solidFill>
                <a:latin typeface="Calibri" pitchFamily="34" charset="0"/>
                <a:ea typeface="Calibri" pitchFamily="34" charset="-122"/>
                <a:cs typeface="Calibri" pitchFamily="34" charset="-120"/>
              </a:rPr>
              <a:t>Analyse de la situation</a:t>
            </a:r>
            <a:endParaRPr lang="en-US" sz="1400" dirty="0"/>
          </a:p>
        </p:txBody>
      </p:sp>
      <p:sp>
        <p:nvSpPr>
          <p:cNvPr id="10" name="Ligne A2"/>
          <p:cNvSpPr/>
          <p:nvPr/>
        </p:nvSpPr>
        <p:spPr>
          <a:xfrm>
            <a:off x="812902" y="2697480"/>
            <a:ext cx="4956048" cy="0"/>
          </a:xfrm>
          <a:prstGeom prst="line">
            <a:avLst/>
          </a:prstGeom>
          <a:noFill/>
          <a:ln w="9525">
            <a:solidFill>
              <a:schemeClr val="accent5"/>
            </a:solidFill>
            <a:prstDash val="solid"/>
          </a:ln>
        </p:spPr>
      </p:sp>
      <p:sp>
        <p:nvSpPr>
          <p:cNvPr id="11" name="Code A3"/>
          <p:cNvSpPr txBox="1"/>
          <p:nvPr/>
        </p:nvSpPr>
        <p:spPr>
          <a:xfrm>
            <a:off x="812902" y="2715768"/>
            <a:ext cx="548640" cy="365760"/>
          </a:xfrm>
          <a:prstGeom prst="rect">
            <a:avLst/>
          </a:prstGeom>
          <a:noFill/>
          <a:ln/>
        </p:spPr>
        <p:txBody>
          <a:bodyPr wrap="square" lIns="0" tIns="0" rIns="0" bIns="0" rtlCol="0" anchor="ctr"/>
          <a:lstStyle/>
          <a:p>
            <a:pPr indent="0" marL="0">
              <a:buNone/>
            </a:pPr>
            <a:r>
              <a:rPr lang="en-US" sz="1500" b="1" dirty="0">
                <a:solidFill>
                  <a:schemeClr val="accent4"/>
                </a:solidFill>
                <a:latin typeface="Georgia" pitchFamily="34" charset="0"/>
                <a:ea typeface="Georgia" pitchFamily="34" charset="-122"/>
                <a:cs typeface="Georgia" pitchFamily="34" charset="-120"/>
              </a:rPr>
              <a:t>A3</a:t>
            </a:r>
            <a:endParaRPr lang="en-US" sz="1500" dirty="0"/>
          </a:p>
        </p:txBody>
      </p:sp>
      <p:sp>
        <p:nvSpPr>
          <p:cNvPr id="12" name="Annexe A3"/>
          <p:cNvSpPr txBox="1"/>
          <p:nvPr/>
        </p:nvSpPr>
        <p:spPr>
          <a:xfrm>
            <a:off x="1452982" y="2715768"/>
            <a:ext cx="4297680" cy="365760"/>
          </a:xfrm>
          <a:prstGeom prst="rect">
            <a:avLst/>
          </a:prstGeom>
          <a:noFill/>
          <a:ln/>
        </p:spPr>
        <p:txBody>
          <a:bodyPr wrap="square" lIns="0" tIns="0" rIns="0" bIns="0" rtlCol="0" anchor="ctr"/>
          <a:lstStyle/>
          <a:p>
            <a:pPr indent="0" marL="0">
              <a:buNone/>
            </a:pPr>
            <a:r>
              <a:rPr lang="en-US" sz="1400" dirty="0">
                <a:solidFill>
                  <a:schemeClr val="bg2"/>
                </a:solidFill>
                <a:latin typeface="Calibri" pitchFamily="34" charset="0"/>
                <a:ea typeface="Calibri" pitchFamily="34" charset="-122"/>
                <a:cs typeface="Calibri" pitchFamily="34" charset="-120"/>
              </a:rPr>
              <a:t>Chaîne logique complète</a:t>
            </a:r>
            <a:endParaRPr lang="en-US" sz="1400" dirty="0"/>
          </a:p>
        </p:txBody>
      </p:sp>
      <p:sp>
        <p:nvSpPr>
          <p:cNvPr id="13" name="Ligne A3"/>
          <p:cNvSpPr/>
          <p:nvPr/>
        </p:nvSpPr>
        <p:spPr>
          <a:xfrm>
            <a:off x="812902" y="3118104"/>
            <a:ext cx="4956048" cy="0"/>
          </a:xfrm>
          <a:prstGeom prst="line">
            <a:avLst/>
          </a:prstGeom>
          <a:noFill/>
          <a:ln w="9525">
            <a:solidFill>
              <a:schemeClr val="accent5"/>
            </a:solidFill>
            <a:prstDash val="solid"/>
          </a:ln>
        </p:spPr>
      </p:sp>
      <p:sp>
        <p:nvSpPr>
          <p:cNvPr id="14" name="Code A4"/>
          <p:cNvSpPr txBox="1"/>
          <p:nvPr/>
        </p:nvSpPr>
        <p:spPr>
          <a:xfrm>
            <a:off x="812902" y="3136392"/>
            <a:ext cx="548640" cy="365760"/>
          </a:xfrm>
          <a:prstGeom prst="rect">
            <a:avLst/>
          </a:prstGeom>
          <a:noFill/>
          <a:ln/>
        </p:spPr>
        <p:txBody>
          <a:bodyPr wrap="square" lIns="0" tIns="0" rIns="0" bIns="0" rtlCol="0" anchor="ctr"/>
          <a:lstStyle/>
          <a:p>
            <a:pPr indent="0" marL="0">
              <a:buNone/>
            </a:pPr>
            <a:r>
              <a:rPr lang="en-US" sz="1500" b="1" dirty="0">
                <a:solidFill>
                  <a:schemeClr val="accent4"/>
                </a:solidFill>
                <a:latin typeface="Georgia" pitchFamily="34" charset="0"/>
                <a:ea typeface="Georgia" pitchFamily="34" charset="-122"/>
                <a:cs typeface="Georgia" pitchFamily="34" charset="-120"/>
              </a:rPr>
              <a:t>A4</a:t>
            </a:r>
            <a:endParaRPr lang="en-US" sz="1500" dirty="0"/>
          </a:p>
        </p:txBody>
      </p:sp>
      <p:sp>
        <p:nvSpPr>
          <p:cNvPr id="15" name="Annexe A4"/>
          <p:cNvSpPr txBox="1"/>
          <p:nvPr/>
        </p:nvSpPr>
        <p:spPr>
          <a:xfrm>
            <a:off x="1452982" y="3136392"/>
            <a:ext cx="4297680" cy="365760"/>
          </a:xfrm>
          <a:prstGeom prst="rect">
            <a:avLst/>
          </a:prstGeom>
          <a:noFill/>
          <a:ln/>
        </p:spPr>
        <p:txBody>
          <a:bodyPr wrap="square" lIns="0" tIns="0" rIns="0" bIns="0" rtlCol="0" anchor="ctr"/>
          <a:lstStyle/>
          <a:p>
            <a:pPr indent="0" marL="0">
              <a:buNone/>
            </a:pPr>
            <a:r>
              <a:rPr lang="en-US" sz="1400" dirty="0">
                <a:solidFill>
                  <a:schemeClr val="bg2"/>
                </a:solidFill>
                <a:latin typeface="Calibri" pitchFamily="34" charset="0"/>
                <a:ea typeface="Calibri" pitchFamily="34" charset="-122"/>
                <a:cs typeface="Calibri" pitchFamily="34" charset="-120"/>
              </a:rPr>
              <a:t>Cadre de résultats et indicateurs</a:t>
            </a:r>
            <a:endParaRPr lang="en-US" sz="1400" dirty="0"/>
          </a:p>
        </p:txBody>
      </p:sp>
      <p:sp>
        <p:nvSpPr>
          <p:cNvPr id="16" name="Ligne A4"/>
          <p:cNvSpPr/>
          <p:nvPr/>
        </p:nvSpPr>
        <p:spPr>
          <a:xfrm>
            <a:off x="812902" y="3538728"/>
            <a:ext cx="4956048" cy="0"/>
          </a:xfrm>
          <a:prstGeom prst="line">
            <a:avLst/>
          </a:prstGeom>
          <a:noFill/>
          <a:ln w="9525">
            <a:solidFill>
              <a:schemeClr val="accent5"/>
            </a:solidFill>
            <a:prstDash val="solid"/>
          </a:ln>
        </p:spPr>
      </p:sp>
      <p:sp>
        <p:nvSpPr>
          <p:cNvPr id="17" name="Code A5"/>
          <p:cNvSpPr txBox="1"/>
          <p:nvPr/>
        </p:nvSpPr>
        <p:spPr>
          <a:xfrm>
            <a:off x="812902" y="3557016"/>
            <a:ext cx="548640" cy="365760"/>
          </a:xfrm>
          <a:prstGeom prst="rect">
            <a:avLst/>
          </a:prstGeom>
          <a:noFill/>
          <a:ln/>
        </p:spPr>
        <p:txBody>
          <a:bodyPr wrap="square" lIns="0" tIns="0" rIns="0" bIns="0" rtlCol="0" anchor="ctr"/>
          <a:lstStyle/>
          <a:p>
            <a:pPr indent="0" marL="0">
              <a:buNone/>
            </a:pPr>
            <a:r>
              <a:rPr lang="en-US" sz="1500" b="1" dirty="0">
                <a:solidFill>
                  <a:schemeClr val="accent4"/>
                </a:solidFill>
                <a:latin typeface="Georgia" pitchFamily="34" charset="0"/>
                <a:ea typeface="Georgia" pitchFamily="34" charset="-122"/>
                <a:cs typeface="Georgia" pitchFamily="34" charset="-120"/>
              </a:rPr>
              <a:t>A5</a:t>
            </a:r>
            <a:endParaRPr lang="en-US" sz="1500" dirty="0"/>
          </a:p>
        </p:txBody>
      </p:sp>
      <p:sp>
        <p:nvSpPr>
          <p:cNvPr id="18" name="Annexe A5"/>
          <p:cNvSpPr txBox="1"/>
          <p:nvPr/>
        </p:nvSpPr>
        <p:spPr>
          <a:xfrm>
            <a:off x="1452982" y="3557016"/>
            <a:ext cx="4297680" cy="365760"/>
          </a:xfrm>
          <a:prstGeom prst="rect">
            <a:avLst/>
          </a:prstGeom>
          <a:noFill/>
          <a:ln/>
        </p:spPr>
        <p:txBody>
          <a:bodyPr wrap="square" lIns="0" tIns="0" rIns="0" bIns="0" rtlCol="0" anchor="ctr"/>
          <a:lstStyle/>
          <a:p>
            <a:pPr indent="0" marL="0">
              <a:buNone/>
            </a:pPr>
            <a:r>
              <a:rPr lang="en-US" sz="1400" dirty="0">
                <a:solidFill>
                  <a:schemeClr val="bg2"/>
                </a:solidFill>
                <a:latin typeface="Calibri" pitchFamily="34" charset="0"/>
                <a:ea typeface="Calibri" pitchFamily="34" charset="-122"/>
                <a:cs typeface="Calibri" pitchFamily="34" charset="-120"/>
              </a:rPr>
              <a:t>Chiffrage NIS.COST et analyse financière</a:t>
            </a:r>
            <a:endParaRPr lang="en-US" sz="1400" dirty="0"/>
          </a:p>
        </p:txBody>
      </p:sp>
      <p:sp>
        <p:nvSpPr>
          <p:cNvPr id="19" name="Ligne A5"/>
          <p:cNvSpPr/>
          <p:nvPr/>
        </p:nvSpPr>
        <p:spPr>
          <a:xfrm>
            <a:off x="812902" y="3959352"/>
            <a:ext cx="4956048" cy="0"/>
          </a:xfrm>
          <a:prstGeom prst="line">
            <a:avLst/>
          </a:prstGeom>
          <a:noFill/>
          <a:ln w="9525">
            <a:solidFill>
              <a:schemeClr val="accent5"/>
            </a:solidFill>
            <a:prstDash val="solid"/>
          </a:ln>
        </p:spPr>
      </p:sp>
      <p:sp>
        <p:nvSpPr>
          <p:cNvPr id="20" name="Code A6"/>
          <p:cNvSpPr txBox="1"/>
          <p:nvPr/>
        </p:nvSpPr>
        <p:spPr>
          <a:xfrm>
            <a:off x="812902" y="3977640"/>
            <a:ext cx="548640" cy="365760"/>
          </a:xfrm>
          <a:prstGeom prst="rect">
            <a:avLst/>
          </a:prstGeom>
          <a:noFill/>
          <a:ln/>
        </p:spPr>
        <p:txBody>
          <a:bodyPr wrap="square" lIns="0" tIns="0" rIns="0" bIns="0" rtlCol="0" anchor="ctr"/>
          <a:lstStyle/>
          <a:p>
            <a:pPr indent="0" marL="0">
              <a:buNone/>
            </a:pPr>
            <a:r>
              <a:rPr lang="en-US" sz="1500" b="1" dirty="0">
                <a:solidFill>
                  <a:schemeClr val="accent4"/>
                </a:solidFill>
                <a:latin typeface="Georgia" pitchFamily="34" charset="0"/>
                <a:ea typeface="Georgia" pitchFamily="34" charset="-122"/>
                <a:cs typeface="Georgia" pitchFamily="34" charset="-120"/>
              </a:rPr>
              <a:t>A6</a:t>
            </a:r>
            <a:endParaRPr lang="en-US" sz="1500" dirty="0"/>
          </a:p>
        </p:txBody>
      </p:sp>
      <p:sp>
        <p:nvSpPr>
          <p:cNvPr id="21" name="Annexe A6"/>
          <p:cNvSpPr txBox="1"/>
          <p:nvPr/>
        </p:nvSpPr>
        <p:spPr>
          <a:xfrm>
            <a:off x="1452982" y="3977640"/>
            <a:ext cx="4297680" cy="365760"/>
          </a:xfrm>
          <a:prstGeom prst="rect">
            <a:avLst/>
          </a:prstGeom>
          <a:noFill/>
          <a:ln/>
        </p:spPr>
        <p:txBody>
          <a:bodyPr wrap="square" lIns="0" tIns="0" rIns="0" bIns="0" rtlCol="0" anchor="ctr"/>
          <a:lstStyle/>
          <a:p>
            <a:pPr indent="0" marL="0">
              <a:buNone/>
            </a:pPr>
            <a:r>
              <a:rPr lang="en-US" sz="1400" dirty="0">
                <a:solidFill>
                  <a:schemeClr val="bg2"/>
                </a:solidFill>
                <a:latin typeface="Calibri" pitchFamily="34" charset="0"/>
                <a:ea typeface="Calibri" pitchFamily="34" charset="-122"/>
                <a:cs typeface="Calibri" pitchFamily="34" charset="-120"/>
              </a:rPr>
              <a:t>Plan opérationnel annuel 2027</a:t>
            </a:r>
            <a:endParaRPr lang="en-US" sz="1400" dirty="0"/>
          </a:p>
        </p:txBody>
      </p:sp>
      <p:sp>
        <p:nvSpPr>
          <p:cNvPr id="22" name="Ligne A6"/>
          <p:cNvSpPr/>
          <p:nvPr/>
        </p:nvSpPr>
        <p:spPr>
          <a:xfrm>
            <a:off x="812902" y="4379976"/>
            <a:ext cx="4956048" cy="0"/>
          </a:xfrm>
          <a:prstGeom prst="line">
            <a:avLst/>
          </a:prstGeom>
          <a:noFill/>
          <a:ln w="9525">
            <a:solidFill>
              <a:schemeClr val="accent5"/>
            </a:solidFill>
            <a:prstDash val="solid"/>
          </a:ln>
        </p:spPr>
      </p:sp>
      <p:sp>
        <p:nvSpPr>
          <p:cNvPr id="23" name="Annexe 7 proposée"/>
          <p:cNvSpPr/>
          <p:nvPr/>
        </p:nvSpPr>
        <p:spPr>
          <a:xfrm>
            <a:off x="812902" y="4572000"/>
            <a:ext cx="4956048" cy="777240"/>
          </a:xfrm>
          <a:prstGeom prst="roundRect">
            <a:avLst>
              <a:gd name="adj" fmla="val 11765"/>
            </a:avLst>
          </a:prstGeom>
          <a:solidFill>
            <a:schemeClr val="accent1"/>
          </a:solidFill>
          <a:ln/>
          <a:effectLst>
            <a:outerShdw sx="100000" sy="100000" kx="0" ky="0" algn="bl" rotWithShape="0" blurRad="203200" dist="25400" dir="5400000">
              <a:srgbClr val="E3B34C">
                <a:alpha val="30000"/>
              </a:srgbClr>
            </a:outerShdw>
          </a:effectLst>
        </p:spPr>
        <p:txBody>
          <a:bodyPr wrap="square" lIns="76200" tIns="177800" rIns="177800" bIns="76200" rtlCol="0" anchor="ctr"/>
          <a:lstStyle/>
          <a:p>
            <a:pPr indent="0" marL="0">
              <a:buNone/>
            </a:pPr>
            <a:r>
              <a:rPr lang="en-US" sz="2200" b="1" dirty="0">
                <a:solidFill>
                  <a:schemeClr val="tx1"/>
                </a:solidFill>
                <a:latin typeface="Georgia" pitchFamily="34" charset="0"/>
                <a:ea typeface="Georgia" pitchFamily="34" charset="-122"/>
                <a:cs typeface="Georgia" pitchFamily="34" charset="-120"/>
              </a:rPr>
              <a:t>A7   </a:t>
            </a:r>
            <a:pPr indent="0" marL="0">
              <a:buNone/>
            </a:pPr>
            <a:r>
              <a:rPr lang="en-US" sz="1500" b="1" dirty="0">
                <a:solidFill>
                  <a:schemeClr val="tx1"/>
                </a:solidFill>
                <a:latin typeface="Calibri" pitchFamily="34" charset="0"/>
                <a:ea typeface="Calibri" pitchFamily="34" charset="-122"/>
                <a:cs typeface="Calibri" pitchFamily="34" charset="-120"/>
              </a:rPr>
              <a:t>Feuille de route 2027-2030 de financement de la transition Gavi</a:t>
            </a:r>
            <a:endParaRPr lang="en-US" sz="2200" dirty="0"/>
          </a:p>
        </p:txBody>
      </p:sp>
      <p:sp>
        <p:nvSpPr>
          <p:cNvPr id="24" name="Pourquoi A7"/>
          <p:cNvSpPr txBox="1"/>
          <p:nvPr/>
        </p:nvSpPr>
        <p:spPr>
          <a:xfrm>
            <a:off x="6345936" y="1874520"/>
            <a:ext cx="5029200" cy="457200"/>
          </a:xfrm>
          <a:prstGeom prst="rect">
            <a:avLst/>
          </a:prstGeom>
          <a:noFill/>
          <a:ln/>
        </p:spPr>
        <p:txBody>
          <a:bodyPr wrap="square" lIns="0" tIns="0" rIns="0" bIns="0" rtlCol="0" anchor="t"/>
          <a:lstStyle/>
          <a:p>
            <a:pPr indent="0" marL="0">
              <a:buNone/>
            </a:pPr>
            <a:r>
              <a:rPr lang="en-US" sz="1800" b="1" dirty="0">
                <a:solidFill>
                  <a:schemeClr val="bg1"/>
                </a:solidFill>
                <a:latin typeface="Georgia" pitchFamily="34" charset="0"/>
                <a:ea typeface="Georgia" pitchFamily="34" charset="-122"/>
                <a:cs typeface="Georgia" pitchFamily="34" charset="-120"/>
              </a:rPr>
              <a:t>Pourquoi l'annexe 7, et non « 5 bis »</a:t>
            </a:r>
            <a:endParaRPr lang="en-US" sz="1800" dirty="0"/>
          </a:p>
        </p:txBody>
      </p:sp>
      <p:sp>
        <p:nvSpPr>
          <p:cNvPr id="25" name="Raison 1"/>
          <p:cNvSpPr txBox="1"/>
          <p:nvPr/>
        </p:nvSpPr>
        <p:spPr>
          <a:xfrm>
            <a:off x="6345936" y="2514600"/>
            <a:ext cx="5029200" cy="8229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Déjà annoncée</a:t>
            </a:r>
            <a:endParaRPr lang="en-US" sz="1500" dirty="0"/>
          </a:p>
          <a:p>
            <a:pPr indent="0" marL="0">
              <a:spcBef>
                <a:spcPts val="300"/>
              </a:spcBef>
              <a:buNone/>
            </a:pPr>
            <a:r>
              <a:rPr lang="en-US" sz="1400" dirty="0">
                <a:solidFill>
                  <a:schemeClr val="bg2"/>
                </a:solidFill>
                <a:latin typeface="Calibri" pitchFamily="34" charset="0"/>
                <a:ea typeface="Calibri" pitchFamily="34" charset="-122"/>
                <a:cs typeface="Calibri" pitchFamily="34" charset="-120"/>
              </a:rPr>
              <a:t>La section 8.2 cite une « annexe 7 », absente du tableau des annexes.</a:t>
            </a:r>
            <a:endParaRPr lang="en-US" sz="1500" dirty="0"/>
          </a:p>
        </p:txBody>
      </p:sp>
      <p:sp>
        <p:nvSpPr>
          <p:cNvPr id="26" name="Raison 2"/>
          <p:cNvSpPr txBox="1"/>
          <p:nvPr/>
        </p:nvSpPr>
        <p:spPr>
          <a:xfrm>
            <a:off x="6345936" y="3429000"/>
            <a:ext cx="5029200" cy="8229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Évolutive</a:t>
            </a:r>
            <a:endParaRPr lang="en-US" sz="1500" dirty="0"/>
          </a:p>
          <a:p>
            <a:pPr indent="0" marL="0">
              <a:spcBef>
                <a:spcPts val="300"/>
              </a:spcBef>
              <a:buNone/>
            </a:pPr>
            <a:r>
              <a:rPr lang="en-US" sz="1400" dirty="0">
                <a:solidFill>
                  <a:schemeClr val="bg2"/>
                </a:solidFill>
                <a:latin typeface="Calibri" pitchFamily="34" charset="0"/>
                <a:ea typeface="Calibri" pitchFamily="34" charset="-122"/>
                <a:cs typeface="Calibri" pitchFamily="34" charset="-120"/>
              </a:rPr>
              <a:t>Document lié : la version adoptée remplace la V0.3 sans rouvrir la SNV.</a:t>
            </a:r>
            <a:endParaRPr lang="en-US" sz="1500" dirty="0"/>
          </a:p>
        </p:txBody>
      </p:sp>
      <p:sp>
        <p:nvSpPr>
          <p:cNvPr id="27" name="Raison 3"/>
          <p:cNvSpPr txBox="1"/>
          <p:nvPr/>
        </p:nvSpPr>
        <p:spPr>
          <a:xfrm>
            <a:off x="6345936" y="4343400"/>
            <a:ext cx="5029200" cy="8229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Distincte de l'A5</a:t>
            </a:r>
            <a:endParaRPr lang="en-US" sz="1500" dirty="0"/>
          </a:p>
          <a:p>
            <a:pPr indent="0" marL="0">
              <a:spcBef>
                <a:spcPts val="300"/>
              </a:spcBef>
              <a:buNone/>
            </a:pPr>
            <a:r>
              <a:rPr lang="en-US" sz="1400" dirty="0">
                <a:solidFill>
                  <a:schemeClr val="bg2"/>
                </a:solidFill>
                <a:latin typeface="Calibri" pitchFamily="34" charset="0"/>
                <a:ea typeface="Calibri" pitchFamily="34" charset="-122"/>
                <a:cs typeface="Calibri" pitchFamily="34" charset="-120"/>
              </a:rPr>
              <a:t>L'A5 chiffre la stratégie ; l'A7 engage l'État sur son financement.</a:t>
            </a:r>
            <a:endParaRPr lang="en-US" sz="15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812902" y="713232"/>
            <a:ext cx="10565892"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AVANT INTÉGRATION</a:t>
            </a:r>
            <a:endParaRPr lang="en-US" sz="1100" dirty="0"/>
          </a:p>
        </p:txBody>
      </p:sp>
      <p:sp>
        <p:nvSpPr>
          <p:cNvPr id="3" name="Text 0"/>
          <p:cNvSpPr/>
          <p:nvPr>
            <p:ph idx="101" type="title" hasCustomPrompt="1"/>
          </p:nvPr>
        </p:nvSpPr>
        <p:spPr>
          <a:xfrm>
            <a:off x="812902" y="1042416"/>
            <a:ext cx="10565892" cy="914400"/>
          </a:xfrm>
          <a:prstGeom prst="rect">
            <a:avLst/>
          </a:prstGeom>
          <a:noFill/>
          <a:ln/>
        </p:spPr>
        <p:txBody>
          <a:bodyPr wrap="square" lIns="0" tIns="0" rIns="0" bIns="0" rtlCol="0" anchor="t"/>
          <a:lstStyle/>
          <a:p>
            <a:pPr algn="l" indent="0" marL="0">
              <a:buNone/>
            </a:pPr>
            <a:r>
              <a:rPr lang="en-US" sz="3000" dirty="0">
                <a:solidFill>
                  <a:schemeClr val="bg1"/>
                </a:solidFill>
                <a:latin typeface="Georgia" pitchFamily="34" charset="0"/>
                <a:ea typeface="Georgia" pitchFamily="34" charset="-122"/>
                <a:cs typeface="Georgia" pitchFamily="34" charset="-120"/>
              </a:rPr>
              <a:t>Quatre cohérences à verrouiller</a:t>
            </a:r>
            <a:endParaRPr lang="en-US" sz="3000" dirty="0"/>
          </a:p>
        </p:txBody>
      </p:sp>
      <p:sp>
        <p:nvSpPr>
          <p:cNvPr id="4" name="Text 0"/>
          <p:cNvSpPr/>
          <p:nvPr>
            <p:ph idx="102" type="body" hasCustomPrompt="1"/>
          </p:nvPr>
        </p:nvSpPr>
        <p:spPr>
          <a:xfrm>
            <a:off x="812902" y="6327648"/>
            <a:ext cx="9834372" cy="27432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Sources : SNV draft 3.8 (§ 8.2, note 1) ; TdR, tableau 2 · FDJ au taux de la SNV · Chiffres à valider par l'équipe pays</a:t>
            </a:r>
            <a:endParaRPr lang="en-US" sz="1000" dirty="0"/>
          </a:p>
        </p:txBody>
      </p:sp>
      <p:sp>
        <p:nvSpPr>
          <p:cNvPr id="5" name="Sous-titre"/>
          <p:cNvSpPr txBox="1"/>
          <p:nvPr/>
        </p:nvSpPr>
        <p:spPr>
          <a:xfrm>
            <a:off x="812902" y="1755648"/>
            <a:ext cx="10565892" cy="36576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Sans elles, SNV et feuille de route afficheraient deux chiffres pour une même politique.</a:t>
            </a:r>
            <a:endParaRPr lang="en-US" sz="1600" dirty="0"/>
          </a:p>
        </p:txBody>
      </p:sp>
      <p:graphicFrame>
        <p:nvGraphicFramePr>
          <p:cNvPr id="10" name="Tableau des cohérences"/>
          <p:cNvGraphicFramePr>
            <a:graphicFrameLocks noGrp="1"/>
          </p:cNvGraphicFramePr>
          <p:nvPr>
            <p:extLst>
              <p:ext uri="{D42A27DB-BD31-4B8C-83A1-F6EECF244321}">
                <p14:modId xmlns:p14="http://schemas.microsoft.com/office/powerpoint/2010/main" val="1579011935"/>
              </p:ext>
            </p:extLst>
          </p:nvPr>
        </p:nvGraphicFramePr>
        <p:xfrm>
          <a:off x="812902" y="2331720"/>
          <a:ext cx="7159752" cy="914400"/>
        </p:xfrm>
        <a:graphic>
          <a:graphicData uri="http://schemas.openxmlformats.org/drawingml/2006/table">
            <a:tbl>
              <a:tblPr/>
              <a:tblGrid>
                <a:gridCol w="1691640"/>
                <a:gridCol w="3319272"/>
                <a:gridCol w="2148840"/>
              </a:tblGrid>
              <a:tr h="0">
                <a:tc>
                  <a:txBody>
                    <a:bodyPr/>
                    <a:lstStyle/>
                    <a:p>
                      <a:pPr indent="0" marL="0">
                        <a:buNone/>
                      </a:pPr>
                      <a:r>
                        <a:rPr lang="en-US" sz="1000" b="1" spc="200" kern="0" dirty="0">
                          <a:solidFill>
                            <a:srgbClr val="E3B34C"/>
                          </a:solidFill>
                          <a:latin typeface="Calibri" pitchFamily="34" charset="0"/>
                          <a:ea typeface="Calibri" pitchFamily="34" charset="-122"/>
                          <a:cs typeface="Calibri" pitchFamily="34" charset="-120"/>
                        </a:rPr>
                        <a:t>POINT</a:t>
                      </a:r>
                      <a:endParaRPr lang="en-US" sz="10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5A4F3A"/>
                      </a:solidFill>
                      <a:prstDash val="solid"/>
                      <a:round/>
                      <a:headEnd type="none" w="med" len="med"/>
                      <a:tailEnd type="none" w="med" len="med"/>
                    </a:lnB>
                  </a:tcPr>
                </a:tc>
                <a:tc>
                  <a:txBody>
                    <a:bodyPr/>
                    <a:lstStyle/>
                    <a:p>
                      <a:pPr indent="0" marL="0">
                        <a:buNone/>
                      </a:pPr>
                      <a:r>
                        <a:rPr lang="en-US" sz="1000" b="1" spc="200" kern="0" dirty="0">
                          <a:solidFill>
                            <a:srgbClr val="E3B34C"/>
                          </a:solidFill>
                          <a:latin typeface="Calibri" pitchFamily="34" charset="0"/>
                          <a:ea typeface="Calibri" pitchFamily="34" charset="-122"/>
                          <a:cs typeface="Calibri" pitchFamily="34" charset="-120"/>
                        </a:rPr>
                        <a:t>ÉCART CONSTATÉ</a:t>
                      </a:r>
                      <a:endParaRPr lang="en-US" sz="10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5A4F3A"/>
                      </a:solidFill>
                      <a:prstDash val="solid"/>
                      <a:round/>
                      <a:headEnd type="none" w="med" len="med"/>
                      <a:tailEnd type="none" w="med" len="med"/>
                    </a:lnB>
                  </a:tcPr>
                </a:tc>
                <a:tc>
                  <a:txBody>
                    <a:bodyPr/>
                    <a:lstStyle/>
                    <a:p>
                      <a:pPr indent="0" marL="0">
                        <a:buNone/>
                      </a:pPr>
                      <a:r>
                        <a:rPr lang="en-US" sz="1000" b="1" spc="200" kern="0" dirty="0">
                          <a:solidFill>
                            <a:srgbClr val="E3B34C"/>
                          </a:solidFill>
                          <a:latin typeface="Calibri" pitchFamily="34" charset="0"/>
                          <a:ea typeface="Calibri" pitchFamily="34" charset="-122"/>
                          <a:cs typeface="Calibri" pitchFamily="34" charset="-120"/>
                        </a:rPr>
                        <a:t>RÈGLE PROPOSÉE</a:t>
                      </a:r>
                      <a:endParaRPr lang="en-US" sz="10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5A4F3A"/>
                      </a:solidFill>
                      <a:prstDash val="solid"/>
                      <a:round/>
                      <a:headEnd type="none" w="med" len="med"/>
                      <a:tailEnd type="none" w="med" len="med"/>
                    </a:lnB>
                  </a:tcPr>
                </a:tc>
              </a:tr>
              <a:tr h="0">
                <a:tc>
                  <a:txBody>
                    <a:bodyPr/>
                    <a:lstStyle/>
                    <a:p>
                      <a:pPr indent="0" marL="0">
                        <a:buNone/>
                      </a:pPr>
                      <a:r>
                        <a:rPr lang="en-US" sz="1300" b="1" dirty="0">
                          <a:solidFill>
                            <a:srgbClr val="F5EFE3"/>
                          </a:solidFill>
                          <a:latin typeface="Calibri" pitchFamily="34" charset="0"/>
                          <a:ea typeface="Calibri" pitchFamily="34" charset="-122"/>
                          <a:cs typeface="Calibri" pitchFamily="34" charset="-120"/>
                        </a:rPr>
                        <a:t>Population cible 2027</a:t>
                      </a:r>
                      <a:endParaRPr lang="en-US" sz="13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3A3326"/>
                      </a:solidFill>
                      <a:prstDash val="solid"/>
                      <a:round/>
                      <a:headEnd type="none" w="med" len="med"/>
                      <a:tailEnd type="none" w="med" len="med"/>
                    </a:lnB>
                  </a:tcPr>
                </a:tc>
                <a:tc>
                  <a:txBody>
                    <a:bodyPr/>
                    <a:lstStyle/>
                    <a:p>
                      <a:pPr indent="0" marL="0">
                        <a:buNone/>
                      </a:pPr>
                      <a:r>
                        <a:rPr lang="en-US" sz="900" b="1" spc="100" kern="0" dirty="0">
                          <a:solidFill>
                            <a:srgbClr val="ABA18D"/>
                          </a:solidFill>
                          <a:latin typeface="Calibri" pitchFamily="34" charset="0"/>
                          <a:ea typeface="Calibri" pitchFamily="34" charset="-122"/>
                          <a:cs typeface="Calibri" pitchFamily="34" charset="-120"/>
                        </a:rPr>
                        <a:t>SNV  </a:t>
                      </a:r>
                      <a:pPr indent="0" marL="0">
                        <a:buNone/>
                      </a:pPr>
                      <a:r>
                        <a:rPr lang="en-US" sz="1300" dirty="0">
                          <a:solidFill>
                            <a:srgbClr val="D8CFBE"/>
                          </a:solidFill>
                          <a:latin typeface="Calibri" pitchFamily="34" charset="0"/>
                          <a:ea typeface="Calibri" pitchFamily="34" charset="-122"/>
                          <a:cs typeface="Calibri" pitchFamily="34" charset="-120"/>
                        </a:rPr>
                        <a:t>28 178, série RGPH 2024</a:t>
                      </a:r>
                      <a:endParaRPr lang="en-US" sz="1300" dirty="0">
                        <a:latin typeface="Calibri" charset="0"/>
                        <a:ea typeface="Calibri" charset="0"/>
                        <a:cs typeface="Calibri" charset="0"/>
                      </a:endParaRPr>
                    </a:p>
                    <a:p>
                      <a:pPr indent="0" marL="0">
                        <a:buNone/>
                      </a:pPr>
                      <a:r>
                        <a:rPr lang="en-US" sz="900" b="1" spc="100" kern="0" dirty="0">
                          <a:solidFill>
                            <a:srgbClr val="ABA18D"/>
                          </a:solidFill>
                          <a:latin typeface="Calibri" pitchFamily="34" charset="0"/>
                          <a:ea typeface="Calibri" pitchFamily="34" charset="-122"/>
                          <a:cs typeface="Calibri" pitchFamily="34" charset="-120"/>
                        </a:rPr>
                        <a:t>PROJET  </a:t>
                      </a:r>
                      <a:pPr indent="0" marL="0">
                        <a:buNone/>
                      </a:pPr>
                      <a:r>
                        <a:rPr lang="en-US" sz="1300" dirty="0">
                          <a:solidFill>
                            <a:srgbClr val="D8CFBE"/>
                          </a:solidFill>
                          <a:latin typeface="Calibri" pitchFamily="34" charset="0"/>
                          <a:ea typeface="Calibri" pitchFamily="34" charset="-122"/>
                          <a:cs typeface="Calibri" pitchFamily="34" charset="-120"/>
                        </a:rPr>
                        <a:t>18 591, outil Gavi</a:t>
                      </a:r>
                      <a:endParaRPr lang="en-US" sz="13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3A3326"/>
                      </a:solidFill>
                      <a:prstDash val="solid"/>
                      <a:round/>
                      <a:headEnd type="none" w="med" len="med"/>
                      <a:tailEnd type="none" w="med" len="med"/>
                    </a:lnB>
                  </a:tcPr>
                </a:tc>
                <a:tc>
                  <a:txBody>
                    <a:bodyPr/>
                    <a:lstStyle/>
                    <a:p>
                      <a:pPr indent="0" marL="0">
                        <a:buNone/>
                      </a:pPr>
                      <a:r>
                        <a:rPr lang="en-US" sz="1300" b="1" dirty="0">
                          <a:solidFill>
                            <a:srgbClr val="E3B34C"/>
                          </a:solidFill>
                          <a:latin typeface="Calibri" pitchFamily="34" charset="0"/>
                          <a:ea typeface="Calibri" pitchFamily="34" charset="-122"/>
                          <a:cs typeface="Calibri" pitchFamily="34" charset="-120"/>
                        </a:rPr>
                        <a:t>Une série unique, arrêtée par écrit</a:t>
                      </a:r>
                      <a:endParaRPr lang="en-US" sz="13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3A3326"/>
                      </a:solidFill>
                      <a:prstDash val="solid"/>
                      <a:round/>
                      <a:headEnd type="none" w="med" len="med"/>
                      <a:tailEnd type="none" w="med" len="med"/>
                    </a:lnB>
                  </a:tcPr>
                </a:tc>
              </a:tr>
              <a:tr h="0">
                <a:tc>
                  <a:txBody>
                    <a:bodyPr/>
                    <a:lstStyle/>
                    <a:p>
                      <a:pPr indent="0" marL="0">
                        <a:buNone/>
                      </a:pPr>
                      <a:r>
                        <a:rPr lang="en-US" sz="1300" b="1" dirty="0">
                          <a:solidFill>
                            <a:srgbClr val="F5EFE3"/>
                          </a:solidFill>
                          <a:latin typeface="Calibri" pitchFamily="34" charset="0"/>
                          <a:ea typeface="Calibri" pitchFamily="34" charset="-122"/>
                          <a:cs typeface="Calibri" pitchFamily="34" charset="-120"/>
                        </a:rPr>
                        <a:t>Charge de l'État en 2030</a:t>
                      </a:r>
                      <a:endParaRPr lang="en-US" sz="13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3A3326"/>
                      </a:solidFill>
                      <a:prstDash val="solid"/>
                      <a:round/>
                      <a:headEnd type="none" w="med" len="med"/>
                      <a:tailEnd type="none" w="med" len="med"/>
                    </a:lnB>
                    <a:solidFill>
                      <a:srgbClr val="1D1A14"/>
                    </a:solidFill>
                  </a:tcPr>
                </a:tc>
                <a:tc>
                  <a:txBody>
                    <a:bodyPr/>
                    <a:lstStyle/>
                    <a:p>
                      <a:pPr indent="0" marL="0">
                        <a:buNone/>
                      </a:pPr>
                      <a:r>
                        <a:rPr lang="en-US" sz="900" b="1" spc="100" kern="0" dirty="0">
                          <a:solidFill>
                            <a:srgbClr val="ABA18D"/>
                          </a:solidFill>
                          <a:latin typeface="Calibri" pitchFamily="34" charset="0"/>
                          <a:ea typeface="Calibri" pitchFamily="34" charset="-122"/>
                          <a:cs typeface="Calibri" pitchFamily="34" charset="-120"/>
                        </a:rPr>
                        <a:t>SNV  </a:t>
                      </a:r>
                      <a:pPr indent="0" marL="0">
                        <a:buNone/>
                      </a:pPr>
                      <a:r>
                        <a:rPr lang="en-US" sz="1300" dirty="0">
                          <a:solidFill>
                            <a:srgbClr val="D8CFBE"/>
                          </a:solidFill>
                          <a:latin typeface="Calibri" pitchFamily="34" charset="0"/>
                          <a:ea typeface="Calibri" pitchFamily="34" charset="-122"/>
                          <a:cs typeface="Calibri" pitchFamily="34" charset="-120"/>
                        </a:rPr>
                        <a:t>≈ 151 M FDJ, tous vaccins</a:t>
                      </a:r>
                      <a:endParaRPr lang="en-US" sz="1300" dirty="0">
                        <a:latin typeface="Calibri" charset="0"/>
                        <a:ea typeface="Calibri" charset="0"/>
                        <a:cs typeface="Calibri" charset="0"/>
                      </a:endParaRPr>
                    </a:p>
                    <a:p>
                      <a:pPr indent="0" marL="0">
                        <a:buNone/>
                      </a:pPr>
                      <a:r>
                        <a:rPr lang="en-US" sz="900" b="1" spc="100" kern="0" dirty="0">
                          <a:solidFill>
                            <a:srgbClr val="ABA18D"/>
                          </a:solidFill>
                          <a:latin typeface="Calibri" pitchFamily="34" charset="0"/>
                          <a:ea typeface="Calibri" pitchFamily="34" charset="-122"/>
                          <a:cs typeface="Calibri" pitchFamily="34" charset="-120"/>
                        </a:rPr>
                        <a:t>PROJET  </a:t>
                      </a:r>
                      <a:pPr indent="0" marL="0">
                        <a:buNone/>
                      </a:pPr>
                      <a:r>
                        <a:rPr lang="en-US" sz="1300" dirty="0">
                          <a:solidFill>
                            <a:srgbClr val="D8CFBE"/>
                          </a:solidFill>
                          <a:latin typeface="Calibri" pitchFamily="34" charset="0"/>
                          <a:ea typeface="Calibri" pitchFamily="34" charset="-122"/>
                          <a:cs typeface="Calibri" pitchFamily="34" charset="-120"/>
                        </a:rPr>
                        <a:t>59,2 à 81,0 M FDJ</a:t>
                      </a:r>
                      <a:endParaRPr lang="en-US" sz="13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3A3326"/>
                      </a:solidFill>
                      <a:prstDash val="solid"/>
                      <a:round/>
                      <a:headEnd type="none" w="med" len="med"/>
                      <a:tailEnd type="none" w="med" len="med"/>
                    </a:lnB>
                    <a:solidFill>
                      <a:srgbClr val="1D1A14"/>
                    </a:solidFill>
                  </a:tcPr>
                </a:tc>
                <a:tc>
                  <a:txBody>
                    <a:bodyPr/>
                    <a:lstStyle/>
                    <a:p>
                      <a:pPr indent="0" marL="0">
                        <a:buNone/>
                      </a:pPr>
                      <a:r>
                        <a:rPr lang="en-US" sz="1300" b="1" dirty="0">
                          <a:solidFill>
                            <a:srgbClr val="E3B34C"/>
                          </a:solidFill>
                          <a:latin typeface="Calibri" pitchFamily="34" charset="0"/>
                          <a:ea typeface="Calibri" pitchFamily="34" charset="-122"/>
                          <a:cs typeface="Calibri" pitchFamily="34" charset="-120"/>
                        </a:rPr>
                        <a:t>Réconcilier les périmètres</a:t>
                      </a:r>
                      <a:endParaRPr lang="en-US" sz="13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3A3326"/>
                      </a:solidFill>
                      <a:prstDash val="solid"/>
                      <a:round/>
                      <a:headEnd type="none" w="med" len="med"/>
                      <a:tailEnd type="none" w="med" len="med"/>
                    </a:lnB>
                    <a:solidFill>
                      <a:srgbClr val="1D1A14"/>
                    </a:solidFill>
                  </a:tcPr>
                </a:tc>
              </a:tr>
              <a:tr h="0">
                <a:tc>
                  <a:txBody>
                    <a:bodyPr/>
                    <a:lstStyle/>
                    <a:p>
                      <a:pPr indent="0" marL="0">
                        <a:buNone/>
                      </a:pPr>
                      <a:r>
                        <a:rPr lang="en-US" sz="1300" b="1" dirty="0">
                          <a:solidFill>
                            <a:srgbClr val="F5EFE3"/>
                          </a:solidFill>
                          <a:latin typeface="Calibri" pitchFamily="34" charset="0"/>
                          <a:ea typeface="Calibri" pitchFamily="34" charset="-122"/>
                          <a:cs typeface="Calibri" pitchFamily="34" charset="-120"/>
                        </a:rPr>
                        <a:t>Monnaie</a:t>
                      </a:r>
                      <a:endParaRPr lang="en-US" sz="13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3A3326"/>
                      </a:solidFill>
                      <a:prstDash val="solid"/>
                      <a:round/>
                      <a:headEnd type="none" w="med" len="med"/>
                      <a:tailEnd type="none" w="med" len="med"/>
                    </a:lnB>
                  </a:tcPr>
                </a:tc>
                <a:tc>
                  <a:txBody>
                    <a:bodyPr/>
                    <a:lstStyle/>
                    <a:p>
                      <a:pPr indent="0" marL="0">
                        <a:buNone/>
                      </a:pPr>
                      <a:r>
                        <a:rPr lang="en-US" sz="900" b="1" spc="100" kern="0" dirty="0">
                          <a:solidFill>
                            <a:srgbClr val="ABA18D"/>
                          </a:solidFill>
                          <a:latin typeface="Calibri" pitchFamily="34" charset="0"/>
                          <a:ea typeface="Calibri" pitchFamily="34" charset="-122"/>
                          <a:cs typeface="Calibri" pitchFamily="34" charset="-120"/>
                        </a:rPr>
                        <a:t>SNV  </a:t>
                      </a:r>
                      <a:pPr indent="0" marL="0">
                        <a:buNone/>
                      </a:pPr>
                      <a:r>
                        <a:rPr lang="en-US" sz="1300" dirty="0">
                          <a:solidFill>
                            <a:srgbClr val="D8CFBE"/>
                          </a:solidFill>
                          <a:latin typeface="Calibri" pitchFamily="34" charset="0"/>
                          <a:ea typeface="Calibri" pitchFamily="34" charset="-122"/>
                          <a:cs typeface="Calibri" pitchFamily="34" charset="-120"/>
                        </a:rPr>
                        <a:t>USD constants, 177,721 FDJ/USD</a:t>
                      </a:r>
                      <a:endParaRPr lang="en-US" sz="1300" dirty="0">
                        <a:latin typeface="Calibri" charset="0"/>
                        <a:ea typeface="Calibri" charset="0"/>
                        <a:cs typeface="Calibri" charset="0"/>
                      </a:endParaRPr>
                    </a:p>
                    <a:p>
                      <a:pPr indent="0" marL="0">
                        <a:buNone/>
                      </a:pPr>
                      <a:r>
                        <a:rPr lang="en-US" sz="900" b="1" spc="100" kern="0" dirty="0">
                          <a:solidFill>
                            <a:srgbClr val="ABA18D"/>
                          </a:solidFill>
                          <a:latin typeface="Calibri" pitchFamily="34" charset="0"/>
                          <a:ea typeface="Calibri" pitchFamily="34" charset="-122"/>
                          <a:cs typeface="Calibri" pitchFamily="34" charset="-120"/>
                        </a:rPr>
                        <a:t>PROJET  </a:t>
                      </a:r>
                      <a:pPr indent="0" marL="0">
                        <a:buNone/>
                      </a:pPr>
                      <a:r>
                        <a:rPr lang="en-US" sz="1300" dirty="0">
                          <a:solidFill>
                            <a:srgbClr val="D8CFBE"/>
                          </a:solidFill>
                          <a:latin typeface="Calibri" pitchFamily="34" charset="0"/>
                          <a:ea typeface="Calibri" pitchFamily="34" charset="-122"/>
                          <a:cs typeface="Calibri" pitchFamily="34" charset="-120"/>
                        </a:rPr>
                        <a:t>FDJ</a:t>
                      </a:r>
                      <a:endParaRPr lang="en-US" sz="13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3A3326"/>
                      </a:solidFill>
                      <a:prstDash val="solid"/>
                      <a:round/>
                      <a:headEnd type="none" w="med" len="med"/>
                      <a:tailEnd type="none" w="med" len="med"/>
                    </a:lnB>
                  </a:tcPr>
                </a:tc>
                <a:tc>
                  <a:txBody>
                    <a:bodyPr/>
                    <a:lstStyle/>
                    <a:p>
                      <a:pPr indent="0" marL="0">
                        <a:buNone/>
                      </a:pPr>
                      <a:r>
                        <a:rPr lang="en-US" sz="1300" b="1" dirty="0">
                          <a:solidFill>
                            <a:srgbClr val="E3B34C"/>
                          </a:solidFill>
                          <a:latin typeface="Calibri" pitchFamily="34" charset="0"/>
                          <a:ea typeface="Calibri" pitchFamily="34" charset="-122"/>
                          <a:cs typeface="Calibri" pitchFamily="34" charset="-120"/>
                        </a:rPr>
                        <a:t>Double affichage, un taux unique</a:t>
                      </a:r>
                      <a:endParaRPr lang="en-US" sz="13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3A3326"/>
                      </a:solidFill>
                      <a:prstDash val="solid"/>
                      <a:round/>
                      <a:headEnd type="none" w="med" len="med"/>
                      <a:tailEnd type="none" w="med" len="med"/>
                    </a:lnB>
                  </a:tcPr>
                </a:tc>
              </a:tr>
              <a:tr h="0">
                <a:tc>
                  <a:txBody>
                    <a:bodyPr/>
                    <a:lstStyle/>
                    <a:p>
                      <a:pPr indent="0" marL="0">
                        <a:buNone/>
                      </a:pPr>
                      <a:r>
                        <a:rPr lang="en-US" sz="1300" b="1" dirty="0">
                          <a:solidFill>
                            <a:srgbClr val="F5EFE3"/>
                          </a:solidFill>
                          <a:latin typeface="Calibri" pitchFamily="34" charset="0"/>
                          <a:ea typeface="Calibri" pitchFamily="34" charset="-122"/>
                          <a:cs typeface="Calibri" pitchFamily="34" charset="-120"/>
                        </a:rPr>
                        <a:t>Intitulé et période</a:t>
                      </a:r>
                      <a:endParaRPr lang="en-US" sz="13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3A3326"/>
                      </a:solidFill>
                      <a:prstDash val="solid"/>
                      <a:round/>
                      <a:headEnd type="none" w="med" len="med"/>
                      <a:tailEnd type="none" w="med" len="med"/>
                    </a:lnB>
                  </a:tcPr>
                </a:tc>
                <a:tc>
                  <a:txBody>
                    <a:bodyPr/>
                    <a:lstStyle/>
                    <a:p>
                      <a:pPr indent="0" marL="0">
                        <a:buNone/>
                      </a:pPr>
                      <a:r>
                        <a:rPr lang="en-US" sz="900" b="1" spc="100" kern="0" dirty="0">
                          <a:solidFill>
                            <a:srgbClr val="ABA18D"/>
                          </a:solidFill>
                          <a:latin typeface="Calibri" pitchFamily="34" charset="0"/>
                          <a:ea typeface="Calibri" pitchFamily="34" charset="-122"/>
                          <a:cs typeface="Calibri" pitchFamily="34" charset="-120"/>
                        </a:rPr>
                        <a:t>SNV  </a:t>
                      </a:r>
                      <a:pPr indent="0" marL="0">
                        <a:buNone/>
                      </a:pPr>
                      <a:r>
                        <a:rPr lang="en-US" sz="1300" dirty="0">
                          <a:solidFill>
                            <a:srgbClr val="D8CFBE"/>
                          </a:solidFill>
                          <a:latin typeface="Calibri" pitchFamily="34" charset="0"/>
                          <a:ea typeface="Calibri" pitchFamily="34" charset="-122"/>
                          <a:cs typeface="Calibri" pitchFamily="34" charset="-120"/>
                        </a:rPr>
                        <a:t>intitulé générique (OS 1.5)</a:t>
                      </a:r>
                      <a:endParaRPr lang="en-US" sz="1300" dirty="0">
                        <a:latin typeface="Calibri" charset="0"/>
                        <a:ea typeface="Calibri" charset="0"/>
                        <a:cs typeface="Calibri" charset="0"/>
                      </a:endParaRPr>
                    </a:p>
                    <a:p>
                      <a:pPr indent="0" marL="0">
                        <a:buNone/>
                      </a:pPr>
                      <a:r>
                        <a:rPr lang="en-US" sz="900" b="1" spc="100" kern="0" dirty="0">
                          <a:solidFill>
                            <a:srgbClr val="ABA18D"/>
                          </a:solidFill>
                          <a:latin typeface="Calibri" pitchFamily="34" charset="0"/>
                          <a:ea typeface="Calibri" pitchFamily="34" charset="-122"/>
                          <a:cs typeface="Calibri" pitchFamily="34" charset="-120"/>
                        </a:rPr>
                        <a:t>PROJET  </a:t>
                      </a:r>
                      <a:pPr indent="0" marL="0">
                        <a:buNone/>
                      </a:pPr>
                      <a:r>
                        <a:rPr lang="en-US" sz="1300" dirty="0">
                          <a:solidFill>
                            <a:srgbClr val="D8CFBE"/>
                          </a:solidFill>
                          <a:latin typeface="Calibri" pitchFamily="34" charset="0"/>
                          <a:ea typeface="Calibri" pitchFamily="34" charset="-122"/>
                          <a:cs typeface="Calibri" pitchFamily="34" charset="-120"/>
                        </a:rPr>
                        <a:t>2027-2030, transition Gavi</a:t>
                      </a:r>
                      <a:endParaRPr lang="en-US" sz="13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3A3326"/>
                      </a:solidFill>
                      <a:prstDash val="solid"/>
                      <a:round/>
                      <a:headEnd type="none" w="med" len="med"/>
                      <a:tailEnd type="none" w="med" len="med"/>
                    </a:lnB>
                  </a:tcPr>
                </a:tc>
                <a:tc>
                  <a:txBody>
                    <a:bodyPr/>
                    <a:lstStyle/>
                    <a:p>
                      <a:pPr indent="0" marL="0">
                        <a:buNone/>
                      </a:pPr>
                      <a:r>
                        <a:rPr lang="en-US" sz="1300" b="1" dirty="0">
                          <a:solidFill>
                            <a:srgbClr val="E3B34C"/>
                          </a:solidFill>
                          <a:latin typeface="Calibri" pitchFamily="34" charset="0"/>
                          <a:ea typeface="Calibri" pitchFamily="34" charset="-122"/>
                          <a:cs typeface="Calibri" pitchFamily="34" charset="-120"/>
                        </a:rPr>
                        <a:t>Un intitulé unique, 2027-2030</a:t>
                      </a:r>
                      <a:endParaRPr lang="en-US" sz="1300" dirty="0">
                        <a:latin typeface="Calibri" charset="0"/>
                        <a:ea typeface="Calibri" charset="0"/>
                        <a:cs typeface="Calibri" charset="0"/>
                      </a:endParaRPr>
                    </a:p>
                  </a:txBody>
                  <a:tcPr marL="101600" marR="101600" marT="76200" marB="76200" anchor="t">
                    <a:lnL w="0" cap="flat" cmpd="sng" algn="ctr">
                      <a:noFill/>
                    </a:lnL>
                    <a:lnR w="0" cap="flat" cmpd="sng" algn="ctr">
                      <a:noFill/>
                    </a:lnR>
                    <a:lnT w="0" cap="flat" cmpd="sng" algn="ctr">
                      <a:noFill/>
                    </a:lnT>
                    <a:lnB w="9525" cap="flat" cmpd="sng" algn="ctr">
                      <a:solidFill>
                        <a:srgbClr val="3A3326"/>
                      </a:solidFill>
                      <a:prstDash val="solid"/>
                      <a:round/>
                      <a:headEnd type="none" w="med" len="med"/>
                      <a:tailEnd type="none" w="med" len="med"/>
                    </a:lnB>
                  </a:tcPr>
                </a:tc>
              </a:tr>
            </a:tbl>
          </a:graphicData>
        </a:graphic>
      </p:graphicFrame>
      <p:sp>
        <p:nvSpPr>
          <p:cNvPr id="7" name="Cadre graphique"/>
          <p:cNvSpPr/>
          <p:nvPr/>
        </p:nvSpPr>
        <p:spPr>
          <a:xfrm>
            <a:off x="8330184" y="2331720"/>
            <a:ext cx="3047695" cy="3611880"/>
          </a:xfrm>
          <a:prstGeom prst="roundRect">
            <a:avLst>
              <a:gd name="adj" fmla="val 3600"/>
            </a:avLst>
          </a:prstGeom>
          <a:solidFill>
            <a:schemeClr val="tx2"/>
          </a:solidFill>
          <a:ln w="9525">
            <a:solidFill>
              <a:schemeClr val="accent5"/>
            </a:solidFill>
            <a:prstDash val="solid"/>
          </a:ln>
        </p:spPr>
      </p:sp>
      <p:graphicFrame>
        <p:nvGraphicFramePr>
          <p:cNvPr id="8" name="Graphique charge 2030" descr=""/>
          <p:cNvGraphicFramePr/>
          <p:nvPr/>
        </p:nvGraphicFramePr>
        <p:xfrm>
          <a:off x="8458200" y="2423160"/>
          <a:ext cx="2788920" cy="2606040"/>
        </p:xfrm>
        <a:graphic xmlns:a="http://schemas.openxmlformats.org/drawingml/2006/main">
          <a:graphicData uri="http://schemas.openxmlformats.org/drawingml/2006/chart">
            <c:chart xmlns:c="http://schemas.openxmlformats.org/drawingml/2006/chart" r:id="rId1"/>
          </a:graphicData>
        </a:graphic>
      </p:graphicFrame>
      <p:sp>
        <p:nvSpPr>
          <p:cNvPr id="9" name="Lecture du graphique"/>
          <p:cNvSpPr txBox="1"/>
          <p:nvPr/>
        </p:nvSpPr>
        <p:spPr>
          <a:xfrm>
            <a:off x="8549640" y="5074920"/>
            <a:ext cx="2606040" cy="77724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Écart du simple au double : les deux chiffres ne couvrent vraisemblablement pas le même périmètre.</a:t>
            </a:r>
            <a:endParaRPr lang="en-US" sz="12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Photo planification" descr="Une équipe de planification travaille devant un mur de fiches">    </p:cNvPr>
          <p:cNvPicPr>
            <a:picLocks noChangeAspect="1"/>
          </p:cNvPicPr>
          <p:nvPr/>
        </p:nvPicPr>
        <p:blipFill>
          <a:blip r:embed="rId1"/>
          <a:srcRect l="0" r="0" t="20364" b="20364"/>
          <a:stretch/>
        </p:blipFill>
        <p:spPr>
          <a:xfrm>
            <a:off x="0" y="0"/>
            <a:ext cx="12191695" cy="2414016"/>
          </a:xfrm>
          <a:prstGeom prst="rect">
            <a:avLst/>
          </a:prstGeom>
        </p:spPr>
      </p:pic>
      <p:pic>
        <p:nvPicPr>
          <p:cNvPr id="3" name="Fondu bandeau" descr="/tmp/claude-0/-home-user-nis-strategy-app/db6ab8e4-23bb-5d3f-99bf-54d3938fe311/scratchpad/pptx_build/assets/shade-band.png">    </p:cNvPr>
          <p:cNvPicPr>
            <a:picLocks noChangeAspect="1"/>
          </p:cNvPicPr>
          <p:nvPr/>
        </p:nvPicPr>
        <p:blipFill>
          <a:blip r:embed="rId2"/>
          <a:stretch>
            <a:fillRect/>
          </a:stretch>
        </p:blipFill>
        <p:spPr>
          <a:xfrm>
            <a:off x="0" y="1399032"/>
            <a:ext cx="12191695" cy="1014984"/>
          </a:xfrm>
          <a:prstGeom prst="rect">
            <a:avLst/>
          </a:prstGeom>
        </p:spPr>
      </p:pic>
      <p:sp>
        <p:nvSpPr>
          <p:cNvPr id="4" name="Text 0"/>
          <p:cNvSpPr/>
          <p:nvPr>
            <p:ph idx="100" type="body" hasCustomPrompt="1"/>
          </p:nvPr>
        </p:nvSpPr>
        <p:spPr>
          <a:xfrm>
            <a:off x="812902" y="2578608"/>
            <a:ext cx="10565892"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CALENDRIER INTÉGRÉ</a:t>
            </a:r>
            <a:endParaRPr lang="en-US" sz="1100" dirty="0"/>
          </a:p>
        </p:txBody>
      </p:sp>
      <p:sp>
        <p:nvSpPr>
          <p:cNvPr id="5" name="Text 0"/>
          <p:cNvSpPr/>
          <p:nvPr>
            <p:ph idx="101" type="title" hasCustomPrompt="1"/>
          </p:nvPr>
        </p:nvSpPr>
        <p:spPr>
          <a:xfrm>
            <a:off x="812902" y="2907792"/>
            <a:ext cx="10565892" cy="914400"/>
          </a:xfrm>
          <a:prstGeom prst="rect">
            <a:avLst/>
          </a:prstGeom>
          <a:noFill/>
          <a:ln/>
        </p:spPr>
        <p:txBody>
          <a:bodyPr wrap="square" lIns="0" tIns="0" rIns="0" bIns="0" rtlCol="0" anchor="t"/>
          <a:lstStyle/>
          <a:p>
            <a:pPr algn="l" indent="0" marL="0">
              <a:buNone/>
            </a:pPr>
            <a:r>
              <a:rPr lang="en-US" sz="3000" dirty="0">
                <a:solidFill>
                  <a:schemeClr val="bg1"/>
                </a:solidFill>
                <a:latin typeface="Georgia" pitchFamily="34" charset="0"/>
                <a:ea typeface="Georgia" pitchFamily="34" charset="-122"/>
                <a:cs typeface="Georgia" pitchFamily="34" charset="-120"/>
              </a:rPr>
              <a:t>Un calendrier qui ne retarde pas la SNV</a:t>
            </a:r>
            <a:endParaRPr lang="en-US" sz="3000" dirty="0"/>
          </a:p>
        </p:txBody>
      </p:sp>
      <p:sp>
        <p:nvSpPr>
          <p:cNvPr id="6" name="Text 0"/>
          <p:cNvSpPr/>
          <p:nvPr>
            <p:ph idx="102" type="body" hasCustomPrompt="1"/>
          </p:nvPr>
        </p:nvSpPr>
        <p:spPr>
          <a:xfrm>
            <a:off x="812902" y="6327648"/>
            <a:ext cx="9834372" cy="27432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Sources : TdR de la réunion de cadrage ; lettre d'allocation Gavi du 17 août 2026 (date limite du 5 mars 2027)</a:t>
            </a:r>
            <a:endParaRPr lang="en-US" sz="1000" dirty="0"/>
          </a:p>
        </p:txBody>
      </p:sp>
      <p:sp>
        <p:nvSpPr>
          <p:cNvPr id="7" name="Ligne du temps"/>
          <p:cNvSpPr/>
          <p:nvPr/>
        </p:nvSpPr>
        <p:spPr>
          <a:xfrm>
            <a:off x="812902" y="3822192"/>
            <a:ext cx="10565892" cy="0"/>
          </a:xfrm>
          <a:prstGeom prst="line">
            <a:avLst/>
          </a:prstGeom>
          <a:noFill/>
          <a:ln w="31750">
            <a:solidFill>
              <a:schemeClr val="accent1"/>
            </a:solidFill>
            <a:prstDash val="solid"/>
          </a:ln>
        </p:spPr>
      </p:sp>
      <p:sp>
        <p:nvSpPr>
          <p:cNvPr id="8" name="Jalon 1"/>
          <p:cNvSpPr/>
          <p:nvPr/>
        </p:nvSpPr>
        <p:spPr>
          <a:xfrm>
            <a:off x="812902" y="3730752"/>
            <a:ext cx="182880" cy="182880"/>
          </a:xfrm>
          <a:prstGeom prst="ellipse">
            <a:avLst/>
          </a:prstGeom>
          <a:solidFill>
            <a:schemeClr val="accent1"/>
          </a:solidFill>
          <a:ln w="9525">
            <a:solidFill>
              <a:schemeClr val="accent1"/>
            </a:solidFill>
            <a:prstDash val="solid"/>
          </a:ln>
        </p:spPr>
      </p:sp>
      <p:sp>
        <p:nvSpPr>
          <p:cNvPr id="9" name="Étape 1"/>
          <p:cNvSpPr txBox="1"/>
          <p:nvPr/>
        </p:nvSpPr>
        <p:spPr>
          <a:xfrm>
            <a:off x="812902" y="4069080"/>
            <a:ext cx="1909816" cy="960120"/>
          </a:xfrm>
          <a:prstGeom prst="rect">
            <a:avLst/>
          </a:prstGeom>
          <a:noFill/>
          <a:ln/>
        </p:spPr>
        <p:txBody>
          <a:bodyPr wrap="square" lIns="0" tIns="0" rIns="0" bIns="0" rtlCol="0" anchor="t"/>
          <a:lstStyle/>
          <a:p>
            <a:pPr indent="0" marL="0">
              <a:buNone/>
            </a:pPr>
            <a:r>
              <a:rPr lang="en-US" sz="2000" b="1" dirty="0">
                <a:solidFill>
                  <a:schemeClr val="bg1"/>
                </a:solidFill>
                <a:latin typeface="Georgia" pitchFamily="34" charset="0"/>
                <a:ea typeface="Georgia" pitchFamily="34" charset="-122"/>
                <a:cs typeface="Georgia" pitchFamily="34" charset="-120"/>
              </a:rPr>
              <a:t>14-15 oct.</a:t>
            </a:r>
            <a:endParaRPr lang="en-US" sz="2000" dirty="0"/>
          </a:p>
          <a:p>
            <a:pPr indent="0" marL="0">
              <a:spcBef>
                <a:spcPts val="400"/>
              </a:spcBef>
              <a:buNone/>
            </a:pPr>
            <a:r>
              <a:rPr lang="en-US" sz="1400" dirty="0">
                <a:solidFill>
                  <a:schemeClr val="bg2"/>
                </a:solidFill>
                <a:latin typeface="Calibri" pitchFamily="34" charset="0"/>
                <a:ea typeface="Calibri" pitchFamily="34" charset="-122"/>
                <a:cs typeface="Calibri" pitchFamily="34" charset="-120"/>
              </a:rPr>
              <a:t>Cadrage : ancrage validé</a:t>
            </a:r>
            <a:endParaRPr lang="en-US" sz="2000" dirty="0"/>
          </a:p>
        </p:txBody>
      </p:sp>
      <p:sp>
        <p:nvSpPr>
          <p:cNvPr id="10" name="Jalon 2"/>
          <p:cNvSpPr/>
          <p:nvPr/>
        </p:nvSpPr>
        <p:spPr>
          <a:xfrm>
            <a:off x="2976921" y="3730752"/>
            <a:ext cx="182880" cy="182880"/>
          </a:xfrm>
          <a:prstGeom prst="ellipse">
            <a:avLst/>
          </a:prstGeom>
          <a:solidFill>
            <a:schemeClr val="accent1"/>
          </a:solidFill>
          <a:ln w="9525">
            <a:solidFill>
              <a:schemeClr val="accent1"/>
            </a:solidFill>
            <a:prstDash val="solid"/>
          </a:ln>
        </p:spPr>
      </p:sp>
      <p:sp>
        <p:nvSpPr>
          <p:cNvPr id="11" name="Étape 2"/>
          <p:cNvSpPr txBox="1"/>
          <p:nvPr/>
        </p:nvSpPr>
        <p:spPr>
          <a:xfrm>
            <a:off x="2976921" y="4069080"/>
            <a:ext cx="1909816" cy="960120"/>
          </a:xfrm>
          <a:prstGeom prst="rect">
            <a:avLst/>
          </a:prstGeom>
          <a:noFill/>
          <a:ln/>
        </p:spPr>
        <p:txBody>
          <a:bodyPr wrap="square" lIns="0" tIns="0" rIns="0" bIns="0" rtlCol="0" anchor="t"/>
          <a:lstStyle/>
          <a:p>
            <a:pPr indent="0" marL="0">
              <a:buNone/>
            </a:pPr>
            <a:r>
              <a:rPr lang="en-US" sz="2000" b="1" dirty="0">
                <a:solidFill>
                  <a:schemeClr val="bg1"/>
                </a:solidFill>
                <a:latin typeface="Georgia" pitchFamily="34" charset="0"/>
                <a:ea typeface="Georgia" pitchFamily="34" charset="-122"/>
                <a:cs typeface="Georgia" pitchFamily="34" charset="-120"/>
              </a:rPr>
              <a:t>20 oct.</a:t>
            </a:r>
            <a:endParaRPr lang="en-US" sz="2000" dirty="0"/>
          </a:p>
          <a:p>
            <a:pPr indent="0" marL="0">
              <a:spcBef>
                <a:spcPts val="400"/>
              </a:spcBef>
              <a:buNone/>
            </a:pPr>
            <a:r>
              <a:rPr lang="en-US" sz="1400" dirty="0">
                <a:solidFill>
                  <a:schemeClr val="bg2"/>
                </a:solidFill>
                <a:latin typeface="Calibri" pitchFamily="34" charset="0"/>
                <a:ea typeface="Calibri" pitchFamily="34" charset="-122"/>
                <a:cs typeface="Calibri" pitchFamily="34" charset="-120"/>
              </a:rPr>
              <a:t>Relevé de conclusions diffusé</a:t>
            </a:r>
            <a:endParaRPr lang="en-US" sz="2000" dirty="0"/>
          </a:p>
        </p:txBody>
      </p:sp>
      <p:sp>
        <p:nvSpPr>
          <p:cNvPr id="12" name="Jalon 3"/>
          <p:cNvSpPr/>
          <p:nvPr/>
        </p:nvSpPr>
        <p:spPr>
          <a:xfrm>
            <a:off x="5140940" y="3730752"/>
            <a:ext cx="182880" cy="182880"/>
          </a:xfrm>
          <a:prstGeom prst="ellipse">
            <a:avLst/>
          </a:prstGeom>
          <a:solidFill>
            <a:schemeClr val="accent1"/>
          </a:solidFill>
          <a:ln w="9525">
            <a:solidFill>
              <a:schemeClr val="accent1"/>
            </a:solidFill>
            <a:prstDash val="solid"/>
          </a:ln>
        </p:spPr>
      </p:sp>
      <p:sp>
        <p:nvSpPr>
          <p:cNvPr id="13" name="Étape 3"/>
          <p:cNvSpPr txBox="1"/>
          <p:nvPr/>
        </p:nvSpPr>
        <p:spPr>
          <a:xfrm>
            <a:off x="5140940" y="4069080"/>
            <a:ext cx="1909816" cy="960120"/>
          </a:xfrm>
          <a:prstGeom prst="rect">
            <a:avLst/>
          </a:prstGeom>
          <a:noFill/>
          <a:ln/>
        </p:spPr>
        <p:txBody>
          <a:bodyPr wrap="square" lIns="0" tIns="0" rIns="0" bIns="0" rtlCol="0" anchor="t"/>
          <a:lstStyle/>
          <a:p>
            <a:pPr indent="0" marL="0">
              <a:buNone/>
            </a:pPr>
            <a:r>
              <a:rPr lang="en-US" sz="2000" b="1" dirty="0">
                <a:solidFill>
                  <a:schemeClr val="bg1"/>
                </a:solidFill>
                <a:latin typeface="Georgia" pitchFamily="34" charset="0"/>
                <a:ea typeface="Georgia" pitchFamily="34" charset="-122"/>
                <a:cs typeface="Georgia" pitchFamily="34" charset="-120"/>
              </a:rPr>
              <a:t>Nov.–déc.</a:t>
            </a:r>
            <a:endParaRPr lang="en-US" sz="2000" dirty="0"/>
          </a:p>
          <a:p>
            <a:pPr indent="0" marL="0">
              <a:spcBef>
                <a:spcPts val="400"/>
              </a:spcBef>
              <a:buNone/>
            </a:pPr>
            <a:r>
              <a:rPr lang="en-US" sz="1400" dirty="0">
                <a:solidFill>
                  <a:schemeClr val="bg2"/>
                </a:solidFill>
                <a:latin typeface="Calibri" pitchFamily="34" charset="0"/>
                <a:ea typeface="Calibri" pitchFamily="34" charset="-122"/>
                <a:cs typeface="Calibri" pitchFamily="34" charset="-120"/>
              </a:rPr>
              <a:t>V0.3 endossée, section 8.5 rédigée</a:t>
            </a:r>
            <a:endParaRPr lang="en-US" sz="2000" dirty="0"/>
          </a:p>
        </p:txBody>
      </p:sp>
      <p:sp>
        <p:nvSpPr>
          <p:cNvPr id="14" name="Jalon 4"/>
          <p:cNvSpPr/>
          <p:nvPr/>
        </p:nvSpPr>
        <p:spPr>
          <a:xfrm>
            <a:off x="7304959" y="3730752"/>
            <a:ext cx="182880" cy="182880"/>
          </a:xfrm>
          <a:prstGeom prst="ellipse">
            <a:avLst/>
          </a:prstGeom>
          <a:solidFill>
            <a:schemeClr val="accent1"/>
          </a:solidFill>
          <a:ln w="9525">
            <a:solidFill>
              <a:schemeClr val="accent1"/>
            </a:solidFill>
            <a:prstDash val="solid"/>
          </a:ln>
        </p:spPr>
      </p:sp>
      <p:sp>
        <p:nvSpPr>
          <p:cNvPr id="15" name="Étape 4"/>
          <p:cNvSpPr txBox="1"/>
          <p:nvPr/>
        </p:nvSpPr>
        <p:spPr>
          <a:xfrm>
            <a:off x="7304959" y="4069080"/>
            <a:ext cx="1909816" cy="960120"/>
          </a:xfrm>
          <a:prstGeom prst="rect">
            <a:avLst/>
          </a:prstGeom>
          <a:noFill/>
          <a:ln/>
        </p:spPr>
        <p:txBody>
          <a:bodyPr wrap="square" lIns="0" tIns="0" rIns="0" bIns="0" rtlCol="0" anchor="t"/>
          <a:lstStyle/>
          <a:p>
            <a:pPr indent="0" marL="0">
              <a:buNone/>
            </a:pPr>
            <a:r>
              <a:rPr lang="en-US" sz="2000" b="1" dirty="0">
                <a:solidFill>
                  <a:schemeClr val="bg1"/>
                </a:solidFill>
                <a:latin typeface="Georgia" pitchFamily="34" charset="0"/>
                <a:ea typeface="Georgia" pitchFamily="34" charset="-122"/>
                <a:cs typeface="Georgia" pitchFamily="34" charset="-120"/>
              </a:rPr>
              <a:t>[à fixer]</a:t>
            </a:r>
            <a:endParaRPr lang="en-US" sz="2000" dirty="0"/>
          </a:p>
          <a:p>
            <a:pPr indent="0" marL="0">
              <a:spcBef>
                <a:spcPts val="400"/>
              </a:spcBef>
              <a:buNone/>
            </a:pPr>
            <a:r>
              <a:rPr lang="en-US" sz="1400" dirty="0">
                <a:solidFill>
                  <a:schemeClr val="bg2"/>
                </a:solidFill>
                <a:latin typeface="Calibri" pitchFamily="34" charset="0"/>
                <a:ea typeface="Calibri" pitchFamily="34" charset="-122"/>
                <a:cs typeface="Calibri" pitchFamily="34" charset="-120"/>
              </a:rPr>
              <a:t>SNV validée avec 8.5 et annexe 7</a:t>
            </a:r>
            <a:endParaRPr lang="en-US" sz="2000" dirty="0"/>
          </a:p>
        </p:txBody>
      </p:sp>
      <p:sp>
        <p:nvSpPr>
          <p:cNvPr id="16" name="Jalon 5"/>
          <p:cNvSpPr/>
          <p:nvPr/>
        </p:nvSpPr>
        <p:spPr>
          <a:xfrm>
            <a:off x="9468978" y="3730752"/>
            <a:ext cx="182880" cy="182880"/>
          </a:xfrm>
          <a:prstGeom prst="ellipse">
            <a:avLst/>
          </a:prstGeom>
          <a:solidFill>
            <a:schemeClr val="tx1"/>
          </a:solidFill>
          <a:ln w="31750">
            <a:solidFill>
              <a:schemeClr val="accent1"/>
            </a:solidFill>
            <a:prstDash val="solid"/>
          </a:ln>
        </p:spPr>
      </p:sp>
      <p:sp>
        <p:nvSpPr>
          <p:cNvPr id="17" name="Étape 5"/>
          <p:cNvSpPr txBox="1"/>
          <p:nvPr/>
        </p:nvSpPr>
        <p:spPr>
          <a:xfrm>
            <a:off x="9468978" y="4069080"/>
            <a:ext cx="1909816" cy="960120"/>
          </a:xfrm>
          <a:prstGeom prst="rect">
            <a:avLst/>
          </a:prstGeom>
          <a:noFill/>
          <a:ln/>
        </p:spPr>
        <p:txBody>
          <a:bodyPr wrap="square" lIns="0" tIns="0" rIns="0" bIns="0" rtlCol="0" anchor="t"/>
          <a:lstStyle/>
          <a:p>
            <a:pPr indent="0" marL="0">
              <a:buNone/>
            </a:pPr>
            <a:r>
              <a:rPr lang="en-US" sz="2000" b="1" dirty="0">
                <a:solidFill>
                  <a:schemeClr val="accent1"/>
                </a:solidFill>
                <a:latin typeface="Georgia" pitchFamily="34" charset="0"/>
                <a:ea typeface="Georgia" pitchFamily="34" charset="-122"/>
                <a:cs typeface="Georgia" pitchFamily="34" charset="-120"/>
              </a:rPr>
              <a:t>5 mars 2027</a:t>
            </a:r>
            <a:endParaRPr lang="en-US" sz="2000" dirty="0"/>
          </a:p>
          <a:p>
            <a:pPr indent="0" marL="0">
              <a:spcBef>
                <a:spcPts val="400"/>
              </a:spcBef>
              <a:buNone/>
            </a:pPr>
            <a:r>
              <a:rPr lang="en-US" sz="1400" dirty="0">
                <a:solidFill>
                  <a:schemeClr val="bg1"/>
                </a:solidFill>
                <a:latin typeface="Calibri" pitchFamily="34" charset="0"/>
                <a:ea typeface="Calibri" pitchFamily="34" charset="-122"/>
                <a:cs typeface="Calibri" pitchFamily="34" charset="-120"/>
              </a:rPr>
              <a:t>Dépôt de la demande Gavi 6.0</a:t>
            </a:r>
            <a:endParaRPr lang="en-US" sz="2000" dirty="0"/>
          </a:p>
        </p:txBody>
      </p:sp>
      <p:sp>
        <p:nvSpPr>
          <p:cNvPr id="18" name="Cadre garde-fou"/>
          <p:cNvSpPr/>
          <p:nvPr/>
        </p:nvSpPr>
        <p:spPr>
          <a:xfrm>
            <a:off x="812902" y="5257800"/>
            <a:ext cx="10565892" cy="731520"/>
          </a:xfrm>
          <a:prstGeom prst="roundRect">
            <a:avLst>
              <a:gd name="adj" fmla="val 12500"/>
            </a:avLst>
          </a:prstGeom>
          <a:solidFill>
            <a:schemeClr val="tx2"/>
          </a:solidFill>
          <a:ln w="9525">
            <a:solidFill>
              <a:schemeClr val="accent3"/>
            </a:solidFill>
            <a:prstDash val="solid"/>
          </a:ln>
        </p:spPr>
      </p:sp>
      <p:sp>
        <p:nvSpPr>
          <p:cNvPr id="19" name="Garde-fou"/>
          <p:cNvSpPr txBox="1"/>
          <p:nvPr/>
        </p:nvSpPr>
        <p:spPr>
          <a:xfrm>
            <a:off x="1087222" y="5257800"/>
            <a:ext cx="10017252" cy="73152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Garde-fou : </a:t>
            </a:r>
            <a:pPr indent="0" marL="0">
              <a:buNone/>
            </a:pPr>
            <a:r>
              <a:rPr lang="en-US" sz="1500" dirty="0">
                <a:solidFill>
                  <a:schemeClr val="bg1"/>
                </a:solidFill>
                <a:latin typeface="Calibri" pitchFamily="34" charset="0"/>
                <a:ea typeface="Calibri" pitchFamily="34" charset="-122"/>
                <a:cs typeface="Calibri" pitchFamily="34" charset="-120"/>
              </a:rPr>
              <a:t>si la feuille de route n'est pas encore adoptée, l'annexe 7 est publiée en version provisoire, puis remplacée par lien.</a:t>
            </a:r>
            <a:endParaRPr lang="en-US" sz="15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Photo seance-avancee" descr="Séance de vaccination en stratégie avancée : des mères et leurs enfants attendent devant une table de vaccination en plein air">    </p:cNvPr>
          <p:cNvPicPr>
            <a:picLocks noChangeAspect="1"/>
          </p:cNvPicPr>
          <p:nvPr/>
        </p:nvPicPr>
        <p:blipFill>
          <a:blip r:embed="rId1"/>
          <a:srcRect l="0" r="0" t="20364" b="20364"/>
          <a:stretch/>
        </p:blipFill>
        <p:spPr>
          <a:xfrm>
            <a:off x="0" y="0"/>
            <a:ext cx="12191695" cy="2414016"/>
          </a:xfrm>
          <a:prstGeom prst="rect">
            <a:avLst/>
          </a:prstGeom>
        </p:spPr>
      </p:pic>
      <p:pic>
        <p:nvPicPr>
          <p:cNvPr id="3" name="Fondu bandeau" descr="/tmp/claude-0/-home-user-nis-strategy-app/db6ab8e4-23bb-5d3f-99bf-54d3938fe311/scratchpad/pptx_build/assets/shade-band.png">    </p:cNvPr>
          <p:cNvPicPr>
            <a:picLocks noChangeAspect="1"/>
          </p:cNvPicPr>
          <p:nvPr/>
        </p:nvPicPr>
        <p:blipFill>
          <a:blip r:embed="rId2"/>
          <a:stretch>
            <a:fillRect/>
          </a:stretch>
        </p:blipFill>
        <p:spPr>
          <a:xfrm>
            <a:off x="0" y="1399032"/>
            <a:ext cx="12191695" cy="1014984"/>
          </a:xfrm>
          <a:prstGeom prst="rect">
            <a:avLst/>
          </a:prstGeom>
        </p:spPr>
      </p:pic>
      <p:sp>
        <p:nvSpPr>
          <p:cNvPr id="4" name="Text 0"/>
          <p:cNvSpPr/>
          <p:nvPr>
            <p:ph idx="100" type="body" hasCustomPrompt="1"/>
          </p:nvPr>
        </p:nvSpPr>
        <p:spPr>
          <a:xfrm>
            <a:off x="812902" y="2578608"/>
            <a:ext cx="10565892"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DÉCISIONS ATTENDUES</a:t>
            </a:r>
            <a:endParaRPr lang="en-US" sz="1100" dirty="0"/>
          </a:p>
        </p:txBody>
      </p:sp>
      <p:sp>
        <p:nvSpPr>
          <p:cNvPr id="5" name="Text 0"/>
          <p:cNvSpPr/>
          <p:nvPr>
            <p:ph idx="101" type="title" hasCustomPrompt="1"/>
          </p:nvPr>
        </p:nvSpPr>
        <p:spPr>
          <a:xfrm>
            <a:off x="812902" y="2907792"/>
            <a:ext cx="10565892" cy="914400"/>
          </a:xfrm>
          <a:prstGeom prst="rect">
            <a:avLst/>
          </a:prstGeom>
          <a:noFill/>
          <a:ln/>
        </p:spPr>
        <p:txBody>
          <a:bodyPr wrap="square" lIns="0" tIns="0" rIns="0" bIns="0" rtlCol="0" anchor="t"/>
          <a:lstStyle/>
          <a:p>
            <a:pPr algn="l" indent="0" marL="0">
              <a:buNone/>
            </a:pPr>
            <a:r>
              <a:rPr lang="en-US" sz="3000" dirty="0">
                <a:solidFill>
                  <a:schemeClr val="bg1"/>
                </a:solidFill>
                <a:latin typeface="Georgia" pitchFamily="34" charset="0"/>
                <a:ea typeface="Georgia" pitchFamily="34" charset="-122"/>
                <a:cs typeface="Georgia" pitchFamily="34" charset="-120"/>
              </a:rPr>
              <a:t>Trois décisions, dès cette réunion</a:t>
            </a:r>
            <a:endParaRPr lang="en-US" sz="3000" dirty="0"/>
          </a:p>
        </p:txBody>
      </p:sp>
      <p:sp>
        <p:nvSpPr>
          <p:cNvPr id="6" name="Text 0"/>
          <p:cNvSpPr/>
          <p:nvPr>
            <p:ph idx="102" type="body" hasCustomPrompt="1"/>
          </p:nvPr>
        </p:nvSpPr>
        <p:spPr>
          <a:xfrm>
            <a:off x="812902" y="6327648"/>
            <a:ext cx="9834372" cy="27432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Chiffres issus des documents de travail, à valider par l'équipe pays · Visuels illustratifs générés par IA</a:t>
            </a:r>
            <a:endParaRPr lang="en-US" sz="1000" dirty="0"/>
          </a:p>
        </p:txBody>
      </p:sp>
      <p:sp>
        <p:nvSpPr>
          <p:cNvPr id="7" name="Cadre décision 1"/>
          <p:cNvSpPr/>
          <p:nvPr/>
        </p:nvSpPr>
        <p:spPr>
          <a:xfrm>
            <a:off x="812902" y="3886200"/>
            <a:ext cx="3352495" cy="2011680"/>
          </a:xfrm>
          <a:prstGeom prst="roundRect">
            <a:avLst>
              <a:gd name="adj" fmla="val 5455"/>
            </a:avLst>
          </a:prstGeom>
          <a:solidFill>
            <a:schemeClr val="tx2"/>
          </a:solidFill>
          <a:ln w="9525">
            <a:solidFill>
              <a:schemeClr val="accent5"/>
            </a:solidFill>
            <a:prstDash val="solid"/>
          </a:ln>
        </p:spPr>
      </p:sp>
      <p:sp>
        <p:nvSpPr>
          <p:cNvPr id="8" name="Décision 1"/>
          <p:cNvSpPr txBox="1"/>
          <p:nvPr/>
        </p:nvSpPr>
        <p:spPr>
          <a:xfrm>
            <a:off x="1068934" y="4069080"/>
            <a:ext cx="2840431" cy="1691640"/>
          </a:xfrm>
          <a:prstGeom prst="rect">
            <a:avLst/>
          </a:prstGeom>
          <a:noFill/>
          <a:ln/>
        </p:spPr>
        <p:txBody>
          <a:bodyPr wrap="square" lIns="0" tIns="0" rIns="0" bIns="0" rtlCol="0" anchor="t"/>
          <a:lstStyle/>
          <a:p>
            <a:pPr indent="0" marL="0">
              <a:buNone/>
            </a:pPr>
            <a:r>
              <a:rPr lang="en-US" sz="2600" b="1" dirty="0">
                <a:solidFill>
                  <a:schemeClr val="accent1"/>
                </a:solidFill>
                <a:latin typeface="Georgia" pitchFamily="34" charset="0"/>
                <a:ea typeface="Georgia" pitchFamily="34" charset="-122"/>
                <a:cs typeface="Georgia" pitchFamily="34" charset="-120"/>
              </a:rPr>
              <a:t>1</a:t>
            </a:r>
            <a:endParaRPr lang="en-US" sz="2600" dirty="0"/>
          </a:p>
          <a:p>
            <a:pPr indent="0" marL="0">
              <a:spcBef>
                <a:spcPts val="600"/>
              </a:spcBef>
              <a:buNone/>
            </a:pPr>
            <a:r>
              <a:rPr lang="en-US" sz="1600" dirty="0">
                <a:solidFill>
                  <a:schemeClr val="bg1"/>
                </a:solidFill>
                <a:latin typeface="Calibri" pitchFamily="34" charset="0"/>
                <a:ea typeface="Calibri" pitchFamily="34" charset="-122"/>
                <a:cs typeface="Calibri" pitchFamily="34" charset="-120"/>
              </a:rPr>
              <a:t>Valider l'architecture d'ancrage : section 8.5, renvoi 1.5, annexe 7.</a:t>
            </a:r>
            <a:endParaRPr lang="en-US" sz="2600" dirty="0"/>
          </a:p>
        </p:txBody>
      </p:sp>
      <p:sp>
        <p:nvSpPr>
          <p:cNvPr id="9" name="Cadre décision 2"/>
          <p:cNvSpPr/>
          <p:nvPr/>
        </p:nvSpPr>
        <p:spPr>
          <a:xfrm>
            <a:off x="4419600" y="3886200"/>
            <a:ext cx="3352495" cy="2011680"/>
          </a:xfrm>
          <a:prstGeom prst="roundRect">
            <a:avLst>
              <a:gd name="adj" fmla="val 5455"/>
            </a:avLst>
          </a:prstGeom>
          <a:solidFill>
            <a:schemeClr val="tx2"/>
          </a:solidFill>
          <a:ln w="9525">
            <a:solidFill>
              <a:schemeClr val="accent5"/>
            </a:solidFill>
            <a:prstDash val="solid"/>
          </a:ln>
        </p:spPr>
      </p:sp>
      <p:sp>
        <p:nvSpPr>
          <p:cNvPr id="10" name="Décision 2"/>
          <p:cNvSpPr txBox="1"/>
          <p:nvPr/>
        </p:nvSpPr>
        <p:spPr>
          <a:xfrm>
            <a:off x="4675632" y="4069080"/>
            <a:ext cx="2840431" cy="1691640"/>
          </a:xfrm>
          <a:prstGeom prst="rect">
            <a:avLst/>
          </a:prstGeom>
          <a:noFill/>
          <a:ln/>
        </p:spPr>
        <p:txBody>
          <a:bodyPr wrap="square" lIns="0" tIns="0" rIns="0" bIns="0" rtlCol="0" anchor="t"/>
          <a:lstStyle/>
          <a:p>
            <a:pPr indent="0" marL="0">
              <a:buNone/>
            </a:pPr>
            <a:r>
              <a:rPr lang="en-US" sz="2600" b="1" dirty="0">
                <a:solidFill>
                  <a:schemeClr val="accent1"/>
                </a:solidFill>
                <a:latin typeface="Georgia" pitchFamily="34" charset="0"/>
                <a:ea typeface="Georgia" pitchFamily="34" charset="-122"/>
                <a:cs typeface="Georgia" pitchFamily="34" charset="-120"/>
              </a:rPr>
              <a:t>2</a:t>
            </a:r>
            <a:endParaRPr lang="en-US" sz="2600" dirty="0"/>
          </a:p>
          <a:p>
            <a:pPr indent="0" marL="0">
              <a:spcBef>
                <a:spcPts val="600"/>
              </a:spcBef>
              <a:buNone/>
            </a:pPr>
            <a:r>
              <a:rPr lang="en-US" sz="1600" dirty="0">
                <a:solidFill>
                  <a:schemeClr val="bg1"/>
                </a:solidFill>
                <a:latin typeface="Calibri" pitchFamily="34" charset="0"/>
                <a:ea typeface="Calibri" pitchFamily="34" charset="-122"/>
                <a:cs typeface="Calibri" pitchFamily="34" charset="-120"/>
              </a:rPr>
              <a:t>Arrêter les quatre règles de cohérence avant toute rédaction.</a:t>
            </a:r>
            <a:endParaRPr lang="en-US" sz="2600" dirty="0"/>
          </a:p>
        </p:txBody>
      </p:sp>
      <p:sp>
        <p:nvSpPr>
          <p:cNvPr id="11" name="Cadre décision 3"/>
          <p:cNvSpPr/>
          <p:nvPr/>
        </p:nvSpPr>
        <p:spPr>
          <a:xfrm>
            <a:off x="8026298" y="3886200"/>
            <a:ext cx="3352495" cy="2011680"/>
          </a:xfrm>
          <a:prstGeom prst="roundRect">
            <a:avLst>
              <a:gd name="adj" fmla="val 5455"/>
            </a:avLst>
          </a:prstGeom>
          <a:solidFill>
            <a:schemeClr val="tx2"/>
          </a:solidFill>
          <a:ln w="9525">
            <a:solidFill>
              <a:schemeClr val="accent5"/>
            </a:solidFill>
            <a:prstDash val="solid"/>
          </a:ln>
        </p:spPr>
      </p:sp>
      <p:sp>
        <p:nvSpPr>
          <p:cNvPr id="12" name="Décision 3"/>
          <p:cNvSpPr txBox="1"/>
          <p:nvPr/>
        </p:nvSpPr>
        <p:spPr>
          <a:xfrm>
            <a:off x="8282330" y="4069080"/>
            <a:ext cx="2840431" cy="1691640"/>
          </a:xfrm>
          <a:prstGeom prst="rect">
            <a:avLst/>
          </a:prstGeom>
          <a:noFill/>
          <a:ln/>
        </p:spPr>
        <p:txBody>
          <a:bodyPr wrap="square" lIns="0" tIns="0" rIns="0" bIns="0" rtlCol="0" anchor="t"/>
          <a:lstStyle/>
          <a:p>
            <a:pPr indent="0" marL="0">
              <a:buNone/>
            </a:pPr>
            <a:r>
              <a:rPr lang="en-US" sz="2600" b="1" dirty="0">
                <a:solidFill>
                  <a:schemeClr val="accent1"/>
                </a:solidFill>
                <a:latin typeface="Georgia" pitchFamily="34" charset="0"/>
                <a:ea typeface="Georgia" pitchFamily="34" charset="-122"/>
                <a:cs typeface="Georgia" pitchFamily="34" charset="-120"/>
              </a:rPr>
              <a:t>3</a:t>
            </a:r>
            <a:endParaRPr lang="en-US" sz="2600" dirty="0"/>
          </a:p>
          <a:p>
            <a:pPr indent="0" marL="0">
              <a:spcBef>
                <a:spcPts val="600"/>
              </a:spcBef>
              <a:buNone/>
            </a:pPr>
            <a:r>
              <a:rPr lang="en-US" sz="1600" dirty="0">
                <a:solidFill>
                  <a:schemeClr val="bg1"/>
                </a:solidFill>
                <a:latin typeface="Calibri" pitchFamily="34" charset="0"/>
                <a:ea typeface="Calibri" pitchFamily="34" charset="-122"/>
                <a:cs typeface="Calibri" pitchFamily="34" charset="-120"/>
              </a:rPr>
              <a:t>Mandater l'équipe de rédaction de la section 8.5, échéance [à fixer].</a:t>
            </a:r>
            <a:endParaRPr lang="en-US" sz="2600" dirty="0"/>
          </a:p>
        </p:txBody>
      </p:sp>
      <p:sp>
        <p:nvSpPr>
          <p:cNvPr id="25" name="Slide Number Placeholder 0"/>
          <p:cNvSpPr>
            <a:spLocks noGrp="1"/>
          </p:cNvSpPr>
          <p:nvPr>
            <p:ph type="sldNum" sz="quarter" idx="4294967295"/>
          </p:nvPr>
        </p:nvSpPr>
        <p:spPr>
          <a:xfrm>
            <a:off x="10921594"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BA18D"/>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transition spd="med">
    <p:fade/>
  </p:transition>
</p:sld>
</file>

<file path=ppt/theme/theme1.xml><?xml version="1.0" encoding="utf-8"?>
<a:theme xmlns:a="http://schemas.openxmlformats.org/drawingml/2006/main" name="Noir et or">
  <a:themeElements>
    <a:clrScheme name="Noir et or">
      <a:dk1>
        <a:srgbClr val="0B0B0C"/>
      </a:dk1>
      <a:lt1>
        <a:srgbClr val="F5EFE3"/>
      </a:lt1>
      <a:dk2>
        <a:srgbClr val="1D1A14"/>
      </a:dk2>
      <a:lt2>
        <a:srgbClr val="D8CFBE"/>
      </a:lt2>
      <a:accent1>
        <a:srgbClr val="E3B34C"/>
      </a:accent1>
      <a:accent2>
        <a:srgbClr val="B88A2E"/>
      </a:accent2>
      <a:accent3>
        <a:srgbClr val="6B5A36"/>
      </a:accent3>
      <a:accent4>
        <a:srgbClr val="ABA18D"/>
      </a:accent4>
      <a:accent5>
        <a:srgbClr val="3A3326"/>
      </a:accent5>
      <a:accent6>
        <a:srgbClr val="7A5A12"/>
      </a:accent6>
      <a:hlink>
        <a:srgbClr val="E3B34C"/>
      </a:hlink>
      <a:folHlink>
        <a:srgbClr val="B88A2E"/>
      </a:folHlink>
    </a:clrScheme>
    <a:fontScheme name="Noir et 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Ancrer la transition Gavi dans la SNV 2027-2030</dc:title>
  <dc:subject>Intégration de la feuille de route de financement de la transition accélérée de Gavi dans la SNV 2027-2030 de Djibouti</dc:subject>
  <dc:creator>Dr Dian Sidibé</dc:creator>
  <cp:lastModifiedBy>Dr Dian Sidibé</cp:lastModifiedBy>
  <cp:revision>1</cp:revision>
  <dcterms:created xsi:type="dcterms:W3CDTF">2026-10-13T18:51:37Z</dcterms:created>
  <dcterms:modified xsi:type="dcterms:W3CDTF">2026-10-13T18:51:37Z</dcterms:modified>
</cp:coreProperties>
</file>